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9850" cx="9144000"/>
  <p:notesSz cx="9144000" cy="5149850"/>
  <p:embeddedFontLs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6B17EB-A7E8-4332-B479-417A2EC575B7}">
  <a:tblStyle styleId="{0F6B17EB-A7E8-4332-B479-417A2EC575B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HelveticaNeue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7" Type="http://schemas.openxmlformats.org/officeDocument/2006/relationships/font" Target="fonts/HelveticaNeue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5d029c80107703e7_0_0:notes"/>
          <p:cNvSpPr/>
          <p:nvPr>
            <p:ph idx="2" type="sldImg"/>
          </p:nvPr>
        </p:nvSpPr>
        <p:spPr>
          <a:xfrm>
            <a:off x="1524300" y="386225"/>
            <a:ext cx="6096300" cy="193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h5d029c80107703e7_0_0:notes"/>
          <p:cNvSpPr txBox="1"/>
          <p:nvPr>
            <p:ph idx="1" type="body"/>
          </p:nvPr>
        </p:nvSpPr>
        <p:spPr>
          <a:xfrm>
            <a:off x="914400" y="2446175"/>
            <a:ext cx="7315200" cy="23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92ff546ce_0_3:notes"/>
          <p:cNvSpPr/>
          <p:nvPr>
            <p:ph idx="2" type="sldImg"/>
          </p:nvPr>
        </p:nvSpPr>
        <p:spPr>
          <a:xfrm>
            <a:off x="1524300" y="386225"/>
            <a:ext cx="6096300" cy="193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92ff546ce_0_3:notes"/>
          <p:cNvSpPr txBox="1"/>
          <p:nvPr>
            <p:ph idx="1" type="body"/>
          </p:nvPr>
        </p:nvSpPr>
        <p:spPr>
          <a:xfrm>
            <a:off x="914400" y="2446175"/>
            <a:ext cx="7315200" cy="23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92ff546ce_0_31:notes"/>
          <p:cNvSpPr txBox="1"/>
          <p:nvPr>
            <p:ph idx="1" type="body"/>
          </p:nvPr>
        </p:nvSpPr>
        <p:spPr>
          <a:xfrm>
            <a:off x="914400" y="2478088"/>
            <a:ext cx="7315200" cy="20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892ff546ce_0_31:notes"/>
          <p:cNvSpPr/>
          <p:nvPr>
            <p:ph idx="2" type="sldImg"/>
          </p:nvPr>
        </p:nvSpPr>
        <p:spPr>
          <a:xfrm>
            <a:off x="3030538" y="644525"/>
            <a:ext cx="30828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 txBox="1"/>
          <p:nvPr>
            <p:ph idx="1" type="body"/>
          </p:nvPr>
        </p:nvSpPr>
        <p:spPr>
          <a:xfrm>
            <a:off x="914400" y="2446175"/>
            <a:ext cx="7315200" cy="231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1524300" y="386225"/>
            <a:ext cx="6096300" cy="1931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92ff546ce_0_18:notes"/>
          <p:cNvSpPr/>
          <p:nvPr>
            <p:ph idx="2" type="sldImg"/>
          </p:nvPr>
        </p:nvSpPr>
        <p:spPr>
          <a:xfrm>
            <a:off x="1524300" y="386225"/>
            <a:ext cx="6096300" cy="193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892ff546ce_0_18:notes"/>
          <p:cNvSpPr txBox="1"/>
          <p:nvPr>
            <p:ph idx="1" type="body"/>
          </p:nvPr>
        </p:nvSpPr>
        <p:spPr>
          <a:xfrm>
            <a:off x="914400" y="2446175"/>
            <a:ext cx="7315200" cy="23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444804" y="255524"/>
            <a:ext cx="825439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4139946" y="987551"/>
            <a:ext cx="42487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44804" y="255524"/>
            <a:ext cx="825439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44804" y="255524"/>
            <a:ext cx="825439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55983"/>
            <a:ext cx="8687104" cy="448080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444804" y="255524"/>
            <a:ext cx="825439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139946" y="987551"/>
            <a:ext cx="42487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6.png"/><Relationship Id="rId10" Type="http://schemas.openxmlformats.org/officeDocument/2006/relationships/image" Target="../media/image13.png"/><Relationship Id="rId9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Relationship Id="rId4" Type="http://schemas.openxmlformats.org/officeDocument/2006/relationships/hyperlink" Target="https://en.wikipedia.org/wiki/Sinking_of_the_Titanic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26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28.png"/><Relationship Id="rId13" Type="http://schemas.openxmlformats.org/officeDocument/2006/relationships/image" Target="../media/image32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jpg"/><Relationship Id="rId4" Type="http://schemas.openxmlformats.org/officeDocument/2006/relationships/image" Target="../media/image25.png"/><Relationship Id="rId9" Type="http://schemas.openxmlformats.org/officeDocument/2006/relationships/image" Target="../media/image24.png"/><Relationship Id="rId15" Type="http://schemas.openxmlformats.org/officeDocument/2006/relationships/image" Target="../media/image31.png"/><Relationship Id="rId14" Type="http://schemas.openxmlformats.org/officeDocument/2006/relationships/image" Target="../media/image33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41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jpg"/><Relationship Id="rId4" Type="http://schemas.openxmlformats.org/officeDocument/2006/relationships/image" Target="../media/image30.png"/><Relationship Id="rId9" Type="http://schemas.openxmlformats.org/officeDocument/2006/relationships/image" Target="../media/image39.png"/><Relationship Id="rId5" Type="http://schemas.openxmlformats.org/officeDocument/2006/relationships/image" Target="../media/image43.jpg"/><Relationship Id="rId6" Type="http://schemas.openxmlformats.org/officeDocument/2006/relationships/image" Target="../media/image35.jpg"/><Relationship Id="rId7" Type="http://schemas.openxmlformats.org/officeDocument/2006/relationships/image" Target="../media/image37.jpg"/><Relationship Id="rId8" Type="http://schemas.openxmlformats.org/officeDocument/2006/relationships/image" Target="../media/image4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jpg"/><Relationship Id="rId4" Type="http://schemas.openxmlformats.org/officeDocument/2006/relationships/image" Target="../media/image45.jpg"/><Relationship Id="rId5" Type="http://schemas.openxmlformats.org/officeDocument/2006/relationships/image" Target="../media/image50.png"/><Relationship Id="rId6" Type="http://schemas.openxmlformats.org/officeDocument/2006/relationships/image" Target="../media/image40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jpg"/><Relationship Id="rId4" Type="http://schemas.openxmlformats.org/officeDocument/2006/relationships/image" Target="../media/image51.jpg"/><Relationship Id="rId5" Type="http://schemas.openxmlformats.org/officeDocument/2006/relationships/image" Target="../media/image57.jpg"/><Relationship Id="rId6" Type="http://schemas.openxmlformats.org/officeDocument/2006/relationships/image" Target="../media/image47.jpg"/><Relationship Id="rId7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5.jpg"/><Relationship Id="rId4" Type="http://schemas.openxmlformats.org/officeDocument/2006/relationships/image" Target="../media/image59.jpg"/><Relationship Id="rId5" Type="http://schemas.openxmlformats.org/officeDocument/2006/relationships/image" Target="../media/image5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6.png"/><Relationship Id="rId4" Type="http://schemas.openxmlformats.org/officeDocument/2006/relationships/image" Target="../media/image4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png"/><Relationship Id="rId4" Type="http://schemas.openxmlformats.org/officeDocument/2006/relationships/image" Target="../media/image63.png"/><Relationship Id="rId5" Type="http://schemas.openxmlformats.org/officeDocument/2006/relationships/image" Target="../media/image62.png"/><Relationship Id="rId6" Type="http://schemas.openxmlformats.org/officeDocument/2006/relationships/image" Target="../media/image61.png"/><Relationship Id="rId7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7"/>
          <p:cNvGrpSpPr/>
          <p:nvPr/>
        </p:nvGrpSpPr>
        <p:grpSpPr>
          <a:xfrm>
            <a:off x="0" y="0"/>
            <a:ext cx="9144000" cy="5143499"/>
            <a:chOff x="0" y="0"/>
            <a:chExt cx="9144000" cy="5143499"/>
          </a:xfrm>
        </p:grpSpPr>
        <p:pic>
          <p:nvPicPr>
            <p:cNvPr id="46" name="Google Shape;46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7887" y="2048255"/>
              <a:ext cx="7799831" cy="11673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7341" y="2074329"/>
              <a:ext cx="7700390" cy="10686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" name="Google Shape;49;p7"/>
          <p:cNvSpPr txBox="1"/>
          <p:nvPr>
            <p:ph type="title"/>
          </p:nvPr>
        </p:nvSpPr>
        <p:spPr>
          <a:xfrm>
            <a:off x="524901" y="2166325"/>
            <a:ext cx="82986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-304800" lvl="0" marL="1677670" marR="1511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Технологии машинного обучения     Machine learning technologies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 txBox="1"/>
          <p:nvPr/>
        </p:nvSpPr>
        <p:spPr>
          <a:xfrm>
            <a:off x="2902076" y="4468189"/>
            <a:ext cx="3482975" cy="629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Peter Gladilin, Assistant Professor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905" marR="0" rtl="0" algn="ctr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ITMO University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67933" y="3241712"/>
            <a:ext cx="7709797" cy="3693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 2 – Data preprocessing and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/>
        </p:nvSpPr>
        <p:spPr>
          <a:xfrm>
            <a:off x="242350" y="114425"/>
            <a:ext cx="375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Survey results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Диаграмма ответов в Формах. Вопрос: Experience in ML. Количество ответов: 40 ответов." id="57" name="Google Shape;57;p8" title="Experience in ML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5" y="637050"/>
            <a:ext cx="4640650" cy="1953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Диаграмма ответов в Формах. Вопрос: Big tech companies should slow down their AI development for the safety of humanity. Количество ответов: 40 ответов." id="58" name="Google Shape;58;p8" title="Big tech companies should slow down their AI development for the safety of humanit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11000"/>
            <a:ext cx="4855398" cy="204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Диаграмма ответов в Формах. Вопрос: During training process of some ML model you optimize:. Количество ответов: 40 ответов." id="59" name="Google Shape;59;p8" title="During training process of some ML model you optimize: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0050" y="651088"/>
            <a:ext cx="4573952" cy="1925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Диаграмма ответов в Формах. Вопрос: I mostly use AI applications (ChatGPT, Claude, Gemini, Codex, Nano Banana etc.) for . Количество ответов: 40 ответов." id="60" name="Google Shape;60;p8" title="I mostly use AI applications (ChatGPT, Claude, Gemini, Codex, Nano Banana etc.) for 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9850" y="2836402"/>
            <a:ext cx="4573952" cy="2175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20049" y="4153342"/>
            <a:ext cx="2745105" cy="969644"/>
          </a:xfrm>
          <a:custGeom>
            <a:rect b="b" l="l" r="r" t="t"/>
            <a:pathLst>
              <a:path extrusionOk="0" h="969645" w="2745105">
                <a:moveTo>
                  <a:pt x="2744978" y="0"/>
                </a:moveTo>
                <a:lnTo>
                  <a:pt x="0" y="0"/>
                </a:lnTo>
                <a:lnTo>
                  <a:pt x="0" y="969467"/>
                </a:lnTo>
                <a:lnTo>
                  <a:pt x="2744978" y="969467"/>
                </a:lnTo>
                <a:lnTo>
                  <a:pt x="274497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397256" y="222885"/>
            <a:ext cx="268732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Data, features, labels etc.</a:t>
            </a:r>
            <a:endParaRPr/>
          </a:p>
        </p:txBody>
      </p:sp>
      <p:grpSp>
        <p:nvGrpSpPr>
          <p:cNvPr id="67" name="Google Shape;67;p9"/>
          <p:cNvGrpSpPr/>
          <p:nvPr/>
        </p:nvGrpSpPr>
        <p:grpSpPr>
          <a:xfrm>
            <a:off x="179793" y="914399"/>
            <a:ext cx="8862060" cy="3032760"/>
            <a:chOff x="179793" y="914399"/>
            <a:chExt cx="8862060" cy="3032760"/>
          </a:xfrm>
        </p:grpSpPr>
        <p:pic>
          <p:nvPicPr>
            <p:cNvPr id="68" name="Google Shape;6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9793" y="914399"/>
              <a:ext cx="8862060" cy="2730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55192" y="3505199"/>
              <a:ext cx="316991" cy="44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55077" y="3645280"/>
              <a:ext cx="117919" cy="2358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9"/>
          <p:cNvSpPr txBox="1"/>
          <p:nvPr/>
        </p:nvSpPr>
        <p:spPr>
          <a:xfrm>
            <a:off x="1142491" y="3988714"/>
            <a:ext cx="4718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12FAC"/>
                </a:solidFill>
                <a:latin typeface="Calibri"/>
                <a:ea typeface="Calibri"/>
                <a:cs typeface="Calibri"/>
                <a:sym typeface="Calibri"/>
              </a:rPr>
              <a:t>label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3964685" y="3956405"/>
            <a:ext cx="78295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12FAC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9"/>
          <p:cNvGrpSpPr/>
          <p:nvPr/>
        </p:nvGrpSpPr>
        <p:grpSpPr>
          <a:xfrm>
            <a:off x="121920" y="4126991"/>
            <a:ext cx="8979408" cy="600455"/>
            <a:chOff x="121920" y="4126991"/>
            <a:chExt cx="8979408" cy="600455"/>
          </a:xfrm>
        </p:grpSpPr>
        <p:pic>
          <p:nvPicPr>
            <p:cNvPr id="74" name="Google Shape;74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1920" y="4126991"/>
              <a:ext cx="8979408" cy="6004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9"/>
            <p:cNvSpPr/>
            <p:nvPr/>
          </p:nvSpPr>
          <p:spPr>
            <a:xfrm>
              <a:off x="179793" y="4153344"/>
              <a:ext cx="8862060" cy="495300"/>
            </a:xfrm>
            <a:custGeom>
              <a:rect b="b" l="l" r="r" t="t"/>
              <a:pathLst>
                <a:path extrusionOk="0" h="495300" w="8862060">
                  <a:moveTo>
                    <a:pt x="8861971" y="0"/>
                  </a:moveTo>
                  <a:lnTo>
                    <a:pt x="8859874" y="78178"/>
                  </a:lnTo>
                  <a:lnTo>
                    <a:pt x="8854034" y="146077"/>
                  </a:lnTo>
                  <a:lnTo>
                    <a:pt x="8845127" y="199620"/>
                  </a:lnTo>
                  <a:lnTo>
                    <a:pt x="8820823" y="247345"/>
                  </a:lnTo>
                  <a:lnTo>
                    <a:pt x="4472216" y="247345"/>
                  </a:lnTo>
                  <a:lnTo>
                    <a:pt x="4459207" y="259954"/>
                  </a:lnTo>
                  <a:lnTo>
                    <a:pt x="4447911" y="295065"/>
                  </a:lnTo>
                  <a:lnTo>
                    <a:pt x="4439005" y="348604"/>
                  </a:lnTo>
                  <a:lnTo>
                    <a:pt x="4433165" y="416500"/>
                  </a:lnTo>
                  <a:lnTo>
                    <a:pt x="4431068" y="494677"/>
                  </a:lnTo>
                  <a:lnTo>
                    <a:pt x="4428957" y="416506"/>
                  </a:lnTo>
                  <a:lnTo>
                    <a:pt x="4423086" y="348607"/>
                  </a:lnTo>
                  <a:lnTo>
                    <a:pt x="4414142" y="295065"/>
                  </a:lnTo>
                  <a:lnTo>
                    <a:pt x="4402815" y="259954"/>
                  </a:lnTo>
                  <a:lnTo>
                    <a:pt x="4389793" y="247345"/>
                  </a:lnTo>
                  <a:lnTo>
                    <a:pt x="41224" y="247345"/>
                  </a:lnTo>
                  <a:lnTo>
                    <a:pt x="16881" y="199620"/>
                  </a:lnTo>
                  <a:lnTo>
                    <a:pt x="7956" y="146077"/>
                  </a:lnTo>
                  <a:lnTo>
                    <a:pt x="2102" y="78178"/>
                  </a:lnTo>
                  <a:lnTo>
                    <a:pt x="0" y="0"/>
                  </a:lnTo>
                </a:path>
              </a:pathLst>
            </a:custGeom>
            <a:noFill/>
            <a:ln cap="flat" cmpd="sng" w="25375">
              <a:solidFill>
                <a:srgbClr val="EB00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76;p9"/>
          <p:cNvGrpSpPr/>
          <p:nvPr/>
        </p:nvGrpSpPr>
        <p:grpSpPr>
          <a:xfrm>
            <a:off x="20048" y="1796033"/>
            <a:ext cx="8862695" cy="2251710"/>
            <a:chOff x="20048" y="1796033"/>
            <a:chExt cx="8862695" cy="2251710"/>
          </a:xfrm>
        </p:grpSpPr>
        <p:pic>
          <p:nvPicPr>
            <p:cNvPr id="77" name="Google Shape;77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977639" y="3474719"/>
              <a:ext cx="316991" cy="5608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9"/>
            <p:cNvSpPr/>
            <p:nvPr/>
          </p:nvSpPr>
          <p:spPr>
            <a:xfrm>
              <a:off x="4076192" y="3613023"/>
              <a:ext cx="118110" cy="356235"/>
            </a:xfrm>
            <a:custGeom>
              <a:rect b="b" l="l" r="r" t="t"/>
              <a:pathLst>
                <a:path extrusionOk="0" h="356235" w="118110">
                  <a:moveTo>
                    <a:pt x="58928" y="50346"/>
                  </a:moveTo>
                  <a:lnTo>
                    <a:pt x="46228" y="72117"/>
                  </a:lnTo>
                  <a:lnTo>
                    <a:pt x="46228" y="355650"/>
                  </a:lnTo>
                  <a:lnTo>
                    <a:pt x="71628" y="355650"/>
                  </a:lnTo>
                  <a:lnTo>
                    <a:pt x="71628" y="72117"/>
                  </a:lnTo>
                  <a:lnTo>
                    <a:pt x="58928" y="50346"/>
                  </a:lnTo>
                  <a:close/>
                </a:path>
                <a:path extrusionOk="0" h="356235" w="118110">
                  <a:moveTo>
                    <a:pt x="58928" y="0"/>
                  </a:moveTo>
                  <a:lnTo>
                    <a:pt x="0" y="101091"/>
                  </a:lnTo>
                  <a:lnTo>
                    <a:pt x="2032" y="108838"/>
                  </a:lnTo>
                  <a:lnTo>
                    <a:pt x="8128" y="112394"/>
                  </a:lnTo>
                  <a:lnTo>
                    <a:pt x="14097" y="115950"/>
                  </a:lnTo>
                  <a:lnTo>
                    <a:pt x="21971" y="113791"/>
                  </a:lnTo>
                  <a:lnTo>
                    <a:pt x="25400" y="107822"/>
                  </a:lnTo>
                  <a:lnTo>
                    <a:pt x="46227" y="72117"/>
                  </a:lnTo>
                  <a:lnTo>
                    <a:pt x="46228" y="25145"/>
                  </a:lnTo>
                  <a:lnTo>
                    <a:pt x="73585" y="25145"/>
                  </a:lnTo>
                  <a:lnTo>
                    <a:pt x="58928" y="0"/>
                  </a:lnTo>
                  <a:close/>
                </a:path>
                <a:path extrusionOk="0" h="356235" w="118110">
                  <a:moveTo>
                    <a:pt x="73585" y="25145"/>
                  </a:moveTo>
                  <a:lnTo>
                    <a:pt x="71628" y="25145"/>
                  </a:lnTo>
                  <a:lnTo>
                    <a:pt x="71628" y="72117"/>
                  </a:lnTo>
                  <a:lnTo>
                    <a:pt x="92456" y="107822"/>
                  </a:lnTo>
                  <a:lnTo>
                    <a:pt x="95885" y="113791"/>
                  </a:lnTo>
                  <a:lnTo>
                    <a:pt x="103759" y="115950"/>
                  </a:lnTo>
                  <a:lnTo>
                    <a:pt x="109728" y="112394"/>
                  </a:lnTo>
                  <a:lnTo>
                    <a:pt x="115824" y="108838"/>
                  </a:lnTo>
                  <a:lnTo>
                    <a:pt x="117856" y="101091"/>
                  </a:lnTo>
                  <a:lnTo>
                    <a:pt x="73585" y="25145"/>
                  </a:lnTo>
                  <a:close/>
                </a:path>
                <a:path extrusionOk="0" h="356235" w="118110">
                  <a:moveTo>
                    <a:pt x="71628" y="25145"/>
                  </a:moveTo>
                  <a:lnTo>
                    <a:pt x="46228" y="25145"/>
                  </a:lnTo>
                  <a:lnTo>
                    <a:pt x="46228" y="72117"/>
                  </a:lnTo>
                  <a:lnTo>
                    <a:pt x="58928" y="50346"/>
                  </a:lnTo>
                  <a:lnTo>
                    <a:pt x="48006" y="31622"/>
                  </a:lnTo>
                  <a:lnTo>
                    <a:pt x="71628" y="31622"/>
                  </a:lnTo>
                  <a:lnTo>
                    <a:pt x="71628" y="25145"/>
                  </a:lnTo>
                  <a:close/>
                </a:path>
                <a:path extrusionOk="0" h="356235" w="118110">
                  <a:moveTo>
                    <a:pt x="71628" y="31622"/>
                  </a:moveTo>
                  <a:lnTo>
                    <a:pt x="69850" y="31622"/>
                  </a:lnTo>
                  <a:lnTo>
                    <a:pt x="58928" y="50346"/>
                  </a:lnTo>
                  <a:lnTo>
                    <a:pt x="71628" y="72117"/>
                  </a:lnTo>
                  <a:lnTo>
                    <a:pt x="71628" y="31622"/>
                  </a:lnTo>
                  <a:close/>
                </a:path>
                <a:path extrusionOk="0" h="356235" w="118110">
                  <a:moveTo>
                    <a:pt x="69850" y="31622"/>
                  </a:moveTo>
                  <a:lnTo>
                    <a:pt x="48006" y="31622"/>
                  </a:lnTo>
                  <a:lnTo>
                    <a:pt x="58928" y="50346"/>
                  </a:lnTo>
                  <a:lnTo>
                    <a:pt x="69850" y="31622"/>
                  </a:lnTo>
                  <a:close/>
                </a:path>
              </a:pathLst>
            </a:custGeom>
            <a:solidFill>
              <a:srgbClr val="EB00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9" name="Google Shape;79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76984" y="3310127"/>
              <a:ext cx="2407920" cy="737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1937131" y="3413505"/>
              <a:ext cx="2200910" cy="567690"/>
            </a:xfrm>
            <a:custGeom>
              <a:rect b="b" l="l" r="r" t="t"/>
              <a:pathLst>
                <a:path extrusionOk="0" h="567689" w="2200910">
                  <a:moveTo>
                    <a:pt x="73181" y="38404"/>
                  </a:moveTo>
                  <a:lnTo>
                    <a:pt x="49034" y="45739"/>
                  </a:lnTo>
                  <a:lnTo>
                    <a:pt x="67339" y="63168"/>
                  </a:lnTo>
                  <a:lnTo>
                    <a:pt x="2195068" y="567524"/>
                  </a:lnTo>
                  <a:lnTo>
                    <a:pt x="2200910" y="542810"/>
                  </a:lnTo>
                  <a:lnTo>
                    <a:pt x="73181" y="38404"/>
                  </a:lnTo>
                  <a:close/>
                </a:path>
                <a:path extrusionOk="0" h="567689" w="2200910">
                  <a:moveTo>
                    <a:pt x="111887" y="0"/>
                  </a:moveTo>
                  <a:lnTo>
                    <a:pt x="105156" y="2159"/>
                  </a:lnTo>
                  <a:lnTo>
                    <a:pt x="0" y="34163"/>
                  </a:lnTo>
                  <a:lnTo>
                    <a:pt x="84708" y="114808"/>
                  </a:lnTo>
                  <a:lnTo>
                    <a:pt x="92710" y="114554"/>
                  </a:lnTo>
                  <a:lnTo>
                    <a:pt x="97662" y="109474"/>
                  </a:lnTo>
                  <a:lnTo>
                    <a:pt x="102488" y="104394"/>
                  </a:lnTo>
                  <a:lnTo>
                    <a:pt x="102235" y="96393"/>
                  </a:lnTo>
                  <a:lnTo>
                    <a:pt x="67339" y="63168"/>
                  </a:lnTo>
                  <a:lnTo>
                    <a:pt x="21589" y="52324"/>
                  </a:lnTo>
                  <a:lnTo>
                    <a:pt x="27431" y="27559"/>
                  </a:lnTo>
                  <a:lnTo>
                    <a:pt x="108886" y="27559"/>
                  </a:lnTo>
                  <a:lnTo>
                    <a:pt x="119252" y="24384"/>
                  </a:lnTo>
                  <a:lnTo>
                    <a:pt x="123062" y="17272"/>
                  </a:lnTo>
                  <a:lnTo>
                    <a:pt x="118999" y="3810"/>
                  </a:lnTo>
                  <a:lnTo>
                    <a:pt x="111887" y="0"/>
                  </a:lnTo>
                  <a:close/>
                </a:path>
                <a:path extrusionOk="0" h="567689" w="2200910">
                  <a:moveTo>
                    <a:pt x="27431" y="27559"/>
                  </a:moveTo>
                  <a:lnTo>
                    <a:pt x="21589" y="52324"/>
                  </a:lnTo>
                  <a:lnTo>
                    <a:pt x="67339" y="63168"/>
                  </a:lnTo>
                  <a:lnTo>
                    <a:pt x="55682" y="52070"/>
                  </a:lnTo>
                  <a:lnTo>
                    <a:pt x="28193" y="52070"/>
                  </a:lnTo>
                  <a:lnTo>
                    <a:pt x="33274" y="30734"/>
                  </a:lnTo>
                  <a:lnTo>
                    <a:pt x="40825" y="30734"/>
                  </a:lnTo>
                  <a:lnTo>
                    <a:pt x="27431" y="27559"/>
                  </a:lnTo>
                  <a:close/>
                </a:path>
                <a:path extrusionOk="0" h="567689" w="2200910">
                  <a:moveTo>
                    <a:pt x="33274" y="30734"/>
                  </a:moveTo>
                  <a:lnTo>
                    <a:pt x="28193" y="52070"/>
                  </a:lnTo>
                  <a:lnTo>
                    <a:pt x="49034" y="45739"/>
                  </a:lnTo>
                  <a:lnTo>
                    <a:pt x="33274" y="30734"/>
                  </a:lnTo>
                  <a:close/>
                </a:path>
                <a:path extrusionOk="0" h="567689" w="2200910">
                  <a:moveTo>
                    <a:pt x="49034" y="45739"/>
                  </a:moveTo>
                  <a:lnTo>
                    <a:pt x="28193" y="52070"/>
                  </a:lnTo>
                  <a:lnTo>
                    <a:pt x="55682" y="52070"/>
                  </a:lnTo>
                  <a:lnTo>
                    <a:pt x="49034" y="45739"/>
                  </a:lnTo>
                  <a:close/>
                </a:path>
                <a:path extrusionOk="0" h="567689" w="2200910">
                  <a:moveTo>
                    <a:pt x="40825" y="30734"/>
                  </a:moveTo>
                  <a:lnTo>
                    <a:pt x="33274" y="30734"/>
                  </a:lnTo>
                  <a:lnTo>
                    <a:pt x="49034" y="45739"/>
                  </a:lnTo>
                  <a:lnTo>
                    <a:pt x="73181" y="38404"/>
                  </a:lnTo>
                  <a:lnTo>
                    <a:pt x="40825" y="30734"/>
                  </a:lnTo>
                  <a:close/>
                </a:path>
                <a:path extrusionOk="0" h="567689" w="2200910">
                  <a:moveTo>
                    <a:pt x="108886" y="27559"/>
                  </a:moveTo>
                  <a:lnTo>
                    <a:pt x="27431" y="27559"/>
                  </a:lnTo>
                  <a:lnTo>
                    <a:pt x="73181" y="38404"/>
                  </a:lnTo>
                  <a:lnTo>
                    <a:pt x="108886" y="27559"/>
                  </a:lnTo>
                  <a:close/>
                </a:path>
              </a:pathLst>
            </a:custGeom>
            <a:solidFill>
              <a:srgbClr val="EB00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1" name="Google Shape;81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081272" y="3310127"/>
              <a:ext cx="941831" cy="7345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9"/>
            <p:cNvSpPr/>
            <p:nvPr/>
          </p:nvSpPr>
          <p:spPr>
            <a:xfrm>
              <a:off x="4127754" y="3447541"/>
              <a:ext cx="735965" cy="531495"/>
            </a:xfrm>
            <a:custGeom>
              <a:rect b="b" l="l" r="r" t="t"/>
              <a:pathLst>
                <a:path extrusionOk="0" h="531495" w="735964">
                  <a:moveTo>
                    <a:pt x="694575" y="29343"/>
                  </a:moveTo>
                  <a:lnTo>
                    <a:pt x="669564" y="31692"/>
                  </a:lnTo>
                  <a:lnTo>
                    <a:pt x="0" y="510806"/>
                  </a:lnTo>
                  <a:lnTo>
                    <a:pt x="14732" y="531456"/>
                  </a:lnTo>
                  <a:lnTo>
                    <a:pt x="684308" y="52262"/>
                  </a:lnTo>
                  <a:lnTo>
                    <a:pt x="694575" y="29343"/>
                  </a:lnTo>
                  <a:close/>
                </a:path>
                <a:path extrusionOk="0" h="531495" w="735964">
                  <a:moveTo>
                    <a:pt x="733589" y="4444"/>
                  </a:moveTo>
                  <a:lnTo>
                    <a:pt x="707644" y="4444"/>
                  </a:lnTo>
                  <a:lnTo>
                    <a:pt x="722376" y="25018"/>
                  </a:lnTo>
                  <a:lnTo>
                    <a:pt x="684308" y="52262"/>
                  </a:lnTo>
                  <a:lnTo>
                    <a:pt x="667385" y="90042"/>
                  </a:lnTo>
                  <a:lnTo>
                    <a:pt x="664463" y="96392"/>
                  </a:lnTo>
                  <a:lnTo>
                    <a:pt x="667385" y="103885"/>
                  </a:lnTo>
                  <a:lnTo>
                    <a:pt x="680212" y="109727"/>
                  </a:lnTo>
                  <a:lnTo>
                    <a:pt x="687705" y="106806"/>
                  </a:lnTo>
                  <a:lnTo>
                    <a:pt x="690499" y="100456"/>
                  </a:lnTo>
                  <a:lnTo>
                    <a:pt x="733589" y="4444"/>
                  </a:lnTo>
                  <a:close/>
                </a:path>
                <a:path extrusionOk="0" h="531495" w="735964">
                  <a:moveTo>
                    <a:pt x="711281" y="9524"/>
                  </a:moveTo>
                  <a:lnTo>
                    <a:pt x="703453" y="9524"/>
                  </a:lnTo>
                  <a:lnTo>
                    <a:pt x="716280" y="27304"/>
                  </a:lnTo>
                  <a:lnTo>
                    <a:pt x="694575" y="29343"/>
                  </a:lnTo>
                  <a:lnTo>
                    <a:pt x="684308" y="52262"/>
                  </a:lnTo>
                  <a:lnTo>
                    <a:pt x="722376" y="25018"/>
                  </a:lnTo>
                  <a:lnTo>
                    <a:pt x="711281" y="9524"/>
                  </a:lnTo>
                  <a:close/>
                </a:path>
                <a:path extrusionOk="0" h="531495" w="735964">
                  <a:moveTo>
                    <a:pt x="735584" y="0"/>
                  </a:moveTo>
                  <a:lnTo>
                    <a:pt x="618998" y="10921"/>
                  </a:lnTo>
                  <a:lnTo>
                    <a:pt x="613918" y="17144"/>
                  </a:lnTo>
                  <a:lnTo>
                    <a:pt x="615188" y="31114"/>
                  </a:lnTo>
                  <a:lnTo>
                    <a:pt x="621411" y="36194"/>
                  </a:lnTo>
                  <a:lnTo>
                    <a:pt x="669564" y="31692"/>
                  </a:lnTo>
                  <a:lnTo>
                    <a:pt x="707644" y="4444"/>
                  </a:lnTo>
                  <a:lnTo>
                    <a:pt x="733589" y="4444"/>
                  </a:lnTo>
                  <a:lnTo>
                    <a:pt x="735584" y="0"/>
                  </a:lnTo>
                  <a:close/>
                </a:path>
                <a:path extrusionOk="0" h="531495" w="735964">
                  <a:moveTo>
                    <a:pt x="707644" y="4444"/>
                  </a:moveTo>
                  <a:lnTo>
                    <a:pt x="669564" y="31692"/>
                  </a:lnTo>
                  <a:lnTo>
                    <a:pt x="694575" y="29343"/>
                  </a:lnTo>
                  <a:lnTo>
                    <a:pt x="703453" y="9524"/>
                  </a:lnTo>
                  <a:lnTo>
                    <a:pt x="711281" y="9524"/>
                  </a:lnTo>
                  <a:lnTo>
                    <a:pt x="707644" y="4444"/>
                  </a:lnTo>
                  <a:close/>
                </a:path>
                <a:path extrusionOk="0" h="531495" w="735964">
                  <a:moveTo>
                    <a:pt x="703453" y="9524"/>
                  </a:moveTo>
                  <a:lnTo>
                    <a:pt x="694575" y="29343"/>
                  </a:lnTo>
                  <a:lnTo>
                    <a:pt x="716280" y="27304"/>
                  </a:lnTo>
                  <a:lnTo>
                    <a:pt x="703453" y="9524"/>
                  </a:lnTo>
                  <a:close/>
                </a:path>
              </a:pathLst>
            </a:custGeom>
            <a:solidFill>
              <a:srgbClr val="EB00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3" name="Google Shape;83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084319" y="3310127"/>
              <a:ext cx="1350264" cy="7345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4129786" y="3435985"/>
              <a:ext cx="1146810" cy="544830"/>
            </a:xfrm>
            <a:custGeom>
              <a:rect b="b" l="l" r="r" t="t"/>
              <a:pathLst>
                <a:path extrusionOk="0" h="544829" w="1146810">
                  <a:moveTo>
                    <a:pt x="1075834" y="30012"/>
                  </a:moveTo>
                  <a:lnTo>
                    <a:pt x="0" y="521131"/>
                  </a:lnTo>
                  <a:lnTo>
                    <a:pt x="10667" y="544245"/>
                  </a:lnTo>
                  <a:lnTo>
                    <a:pt x="1086265" y="53179"/>
                  </a:lnTo>
                  <a:lnTo>
                    <a:pt x="1100859" y="32507"/>
                  </a:lnTo>
                  <a:lnTo>
                    <a:pt x="1075834" y="30012"/>
                  </a:lnTo>
                  <a:close/>
                </a:path>
                <a:path extrusionOk="0" h="544829" w="1146810">
                  <a:moveTo>
                    <a:pt x="1136499" y="10540"/>
                  </a:moveTo>
                  <a:lnTo>
                    <a:pt x="1118489" y="10540"/>
                  </a:lnTo>
                  <a:lnTo>
                    <a:pt x="1129029" y="33655"/>
                  </a:lnTo>
                  <a:lnTo>
                    <a:pt x="1086265" y="53179"/>
                  </a:lnTo>
                  <a:lnTo>
                    <a:pt x="1062481" y="86867"/>
                  </a:lnTo>
                  <a:lnTo>
                    <a:pt x="1058544" y="92582"/>
                  </a:lnTo>
                  <a:lnTo>
                    <a:pt x="1059814" y="100456"/>
                  </a:lnTo>
                  <a:lnTo>
                    <a:pt x="1065529" y="104520"/>
                  </a:lnTo>
                  <a:lnTo>
                    <a:pt x="1071372" y="108584"/>
                  </a:lnTo>
                  <a:lnTo>
                    <a:pt x="1079246" y="107187"/>
                  </a:lnTo>
                  <a:lnTo>
                    <a:pt x="1083310" y="101472"/>
                  </a:lnTo>
                  <a:lnTo>
                    <a:pt x="1146683" y="11556"/>
                  </a:lnTo>
                  <a:lnTo>
                    <a:pt x="1136499" y="10540"/>
                  </a:lnTo>
                  <a:close/>
                </a:path>
                <a:path extrusionOk="0" h="544829" w="1146810">
                  <a:moveTo>
                    <a:pt x="1100859" y="32507"/>
                  </a:moveTo>
                  <a:lnTo>
                    <a:pt x="1086265" y="53179"/>
                  </a:lnTo>
                  <a:lnTo>
                    <a:pt x="1126804" y="34670"/>
                  </a:lnTo>
                  <a:lnTo>
                    <a:pt x="1122552" y="34670"/>
                  </a:lnTo>
                  <a:lnTo>
                    <a:pt x="1100859" y="32507"/>
                  </a:lnTo>
                  <a:close/>
                </a:path>
                <a:path extrusionOk="0" h="544829" w="1146810">
                  <a:moveTo>
                    <a:pt x="1113409" y="14731"/>
                  </a:moveTo>
                  <a:lnTo>
                    <a:pt x="1100859" y="32507"/>
                  </a:lnTo>
                  <a:lnTo>
                    <a:pt x="1122552" y="34670"/>
                  </a:lnTo>
                  <a:lnTo>
                    <a:pt x="1113409" y="14731"/>
                  </a:lnTo>
                  <a:close/>
                </a:path>
                <a:path extrusionOk="0" h="544829" w="1146810">
                  <a:moveTo>
                    <a:pt x="1120400" y="14731"/>
                  </a:moveTo>
                  <a:lnTo>
                    <a:pt x="1113409" y="14731"/>
                  </a:lnTo>
                  <a:lnTo>
                    <a:pt x="1122552" y="34670"/>
                  </a:lnTo>
                  <a:lnTo>
                    <a:pt x="1126804" y="34670"/>
                  </a:lnTo>
                  <a:lnTo>
                    <a:pt x="1129029" y="33655"/>
                  </a:lnTo>
                  <a:lnTo>
                    <a:pt x="1120400" y="14731"/>
                  </a:lnTo>
                  <a:close/>
                </a:path>
                <a:path extrusionOk="0" h="544829" w="1146810">
                  <a:moveTo>
                    <a:pt x="1118489" y="10540"/>
                  </a:moveTo>
                  <a:lnTo>
                    <a:pt x="1075834" y="30012"/>
                  </a:lnTo>
                  <a:lnTo>
                    <a:pt x="1100859" y="32507"/>
                  </a:lnTo>
                  <a:lnTo>
                    <a:pt x="1113409" y="14731"/>
                  </a:lnTo>
                  <a:lnTo>
                    <a:pt x="1120400" y="14731"/>
                  </a:lnTo>
                  <a:lnTo>
                    <a:pt x="1118489" y="10540"/>
                  </a:lnTo>
                  <a:close/>
                </a:path>
                <a:path extrusionOk="0" h="544829" w="1146810">
                  <a:moveTo>
                    <a:pt x="1030224" y="0"/>
                  </a:moveTo>
                  <a:lnTo>
                    <a:pt x="1024001" y="5080"/>
                  </a:lnTo>
                  <a:lnTo>
                    <a:pt x="1023365" y="12064"/>
                  </a:lnTo>
                  <a:lnTo>
                    <a:pt x="1022603" y="19050"/>
                  </a:lnTo>
                  <a:lnTo>
                    <a:pt x="1027684" y="25272"/>
                  </a:lnTo>
                  <a:lnTo>
                    <a:pt x="1075834" y="30012"/>
                  </a:lnTo>
                  <a:lnTo>
                    <a:pt x="1118489" y="10540"/>
                  </a:lnTo>
                  <a:lnTo>
                    <a:pt x="1136499" y="10540"/>
                  </a:lnTo>
                  <a:lnTo>
                    <a:pt x="1030224" y="0"/>
                  </a:lnTo>
                  <a:close/>
                </a:path>
              </a:pathLst>
            </a:custGeom>
            <a:solidFill>
              <a:srgbClr val="EB00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20048" y="1796033"/>
              <a:ext cx="8862695" cy="527685"/>
            </a:xfrm>
            <a:custGeom>
              <a:rect b="b" l="l" r="r" t="t"/>
              <a:pathLst>
                <a:path extrusionOk="0" h="527685" w="8862695">
                  <a:moveTo>
                    <a:pt x="0" y="263525"/>
                  </a:moveTo>
                  <a:lnTo>
                    <a:pt x="26008" y="234810"/>
                  </a:lnTo>
                  <a:lnTo>
                    <a:pt x="71402" y="216155"/>
                  </a:lnTo>
                  <a:lnTo>
                    <a:pt x="119607" y="202454"/>
                  </a:lnTo>
                  <a:lnTo>
                    <a:pt x="158298" y="193469"/>
                  </a:lnTo>
                  <a:lnTo>
                    <a:pt x="202117" y="184610"/>
                  </a:lnTo>
                  <a:lnTo>
                    <a:pt x="250962" y="175883"/>
                  </a:lnTo>
                  <a:lnTo>
                    <a:pt x="304734" y="167295"/>
                  </a:lnTo>
                  <a:lnTo>
                    <a:pt x="363333" y="158851"/>
                  </a:lnTo>
                  <a:lnTo>
                    <a:pt x="426659" y="150557"/>
                  </a:lnTo>
                  <a:lnTo>
                    <a:pt x="494611" y="142419"/>
                  </a:lnTo>
                  <a:lnTo>
                    <a:pt x="567090" y="134443"/>
                  </a:lnTo>
                  <a:lnTo>
                    <a:pt x="604995" y="130518"/>
                  </a:lnTo>
                  <a:lnTo>
                    <a:pt x="643994" y="126635"/>
                  </a:lnTo>
                  <a:lnTo>
                    <a:pt x="684075" y="122796"/>
                  </a:lnTo>
                  <a:lnTo>
                    <a:pt x="725225" y="119001"/>
                  </a:lnTo>
                  <a:lnTo>
                    <a:pt x="767432" y="115251"/>
                  </a:lnTo>
                  <a:lnTo>
                    <a:pt x="810682" y="111547"/>
                  </a:lnTo>
                  <a:lnTo>
                    <a:pt x="854964" y="107890"/>
                  </a:lnTo>
                  <a:lnTo>
                    <a:pt x="900265" y="104279"/>
                  </a:lnTo>
                  <a:lnTo>
                    <a:pt x="946572" y="100716"/>
                  </a:lnTo>
                  <a:lnTo>
                    <a:pt x="993874" y="97203"/>
                  </a:lnTo>
                  <a:lnTo>
                    <a:pt x="1042156" y="93738"/>
                  </a:lnTo>
                  <a:lnTo>
                    <a:pt x="1091408" y="90324"/>
                  </a:lnTo>
                  <a:lnTo>
                    <a:pt x="1141616" y="86961"/>
                  </a:lnTo>
                  <a:lnTo>
                    <a:pt x="1192768" y="83649"/>
                  </a:lnTo>
                  <a:lnTo>
                    <a:pt x="1244851" y="80390"/>
                  </a:lnTo>
                  <a:lnTo>
                    <a:pt x="1297853" y="77184"/>
                  </a:lnTo>
                  <a:lnTo>
                    <a:pt x="1351762" y="74032"/>
                  </a:lnTo>
                  <a:lnTo>
                    <a:pt x="1406564" y="70934"/>
                  </a:lnTo>
                  <a:lnTo>
                    <a:pt x="1462248" y="67892"/>
                  </a:lnTo>
                  <a:lnTo>
                    <a:pt x="1518800" y="64906"/>
                  </a:lnTo>
                  <a:lnTo>
                    <a:pt x="1576209" y="61977"/>
                  </a:lnTo>
                  <a:lnTo>
                    <a:pt x="1634462" y="59105"/>
                  </a:lnTo>
                  <a:lnTo>
                    <a:pt x="1693545" y="56292"/>
                  </a:lnTo>
                  <a:lnTo>
                    <a:pt x="1753448" y="53538"/>
                  </a:lnTo>
                  <a:lnTo>
                    <a:pt x="1814156" y="50844"/>
                  </a:lnTo>
                  <a:lnTo>
                    <a:pt x="1875659" y="48211"/>
                  </a:lnTo>
                  <a:lnTo>
                    <a:pt x="1937943" y="45638"/>
                  </a:lnTo>
                  <a:lnTo>
                    <a:pt x="2000995" y="43128"/>
                  </a:lnTo>
                  <a:lnTo>
                    <a:pt x="2064803" y="40681"/>
                  </a:lnTo>
                  <a:lnTo>
                    <a:pt x="2129355" y="38297"/>
                  </a:lnTo>
                  <a:lnTo>
                    <a:pt x="2194639" y="35978"/>
                  </a:lnTo>
                  <a:lnTo>
                    <a:pt x="2260641" y="33724"/>
                  </a:lnTo>
                  <a:lnTo>
                    <a:pt x="2327349" y="31535"/>
                  </a:lnTo>
                  <a:lnTo>
                    <a:pt x="2394750" y="29413"/>
                  </a:lnTo>
                  <a:lnTo>
                    <a:pt x="2462833" y="27359"/>
                  </a:lnTo>
                  <a:lnTo>
                    <a:pt x="2531584" y="25372"/>
                  </a:lnTo>
                  <a:lnTo>
                    <a:pt x="2600992" y="23454"/>
                  </a:lnTo>
                  <a:lnTo>
                    <a:pt x="2671042" y="21606"/>
                  </a:lnTo>
                  <a:lnTo>
                    <a:pt x="2741724" y="19828"/>
                  </a:lnTo>
                  <a:lnTo>
                    <a:pt x="2813025" y="18121"/>
                  </a:lnTo>
                  <a:lnTo>
                    <a:pt x="2884931" y="16486"/>
                  </a:lnTo>
                  <a:lnTo>
                    <a:pt x="2957431" y="14923"/>
                  </a:lnTo>
                  <a:lnTo>
                    <a:pt x="3030512" y="13434"/>
                  </a:lnTo>
                  <a:lnTo>
                    <a:pt x="3104161" y="12019"/>
                  </a:lnTo>
                  <a:lnTo>
                    <a:pt x="3178366" y="10678"/>
                  </a:lnTo>
                  <a:lnTo>
                    <a:pt x="3253115" y="9413"/>
                  </a:lnTo>
                  <a:lnTo>
                    <a:pt x="3328395" y="8224"/>
                  </a:lnTo>
                  <a:lnTo>
                    <a:pt x="3404193" y="7112"/>
                  </a:lnTo>
                  <a:lnTo>
                    <a:pt x="3480497" y="6078"/>
                  </a:lnTo>
                  <a:lnTo>
                    <a:pt x="3557294" y="5122"/>
                  </a:lnTo>
                  <a:lnTo>
                    <a:pt x="3634572" y="4245"/>
                  </a:lnTo>
                  <a:lnTo>
                    <a:pt x="3712318" y="3449"/>
                  </a:lnTo>
                  <a:lnTo>
                    <a:pt x="3790521" y="2733"/>
                  </a:lnTo>
                  <a:lnTo>
                    <a:pt x="3869166" y="2098"/>
                  </a:lnTo>
                  <a:lnTo>
                    <a:pt x="3948243" y="1546"/>
                  </a:lnTo>
                  <a:lnTo>
                    <a:pt x="4027738" y="1076"/>
                  </a:lnTo>
                  <a:lnTo>
                    <a:pt x="4107638" y="691"/>
                  </a:lnTo>
                  <a:lnTo>
                    <a:pt x="4187932" y="389"/>
                  </a:lnTo>
                  <a:lnTo>
                    <a:pt x="4268606" y="173"/>
                  </a:lnTo>
                  <a:lnTo>
                    <a:pt x="4349649" y="43"/>
                  </a:lnTo>
                  <a:lnTo>
                    <a:pt x="4431047" y="0"/>
                  </a:lnTo>
                  <a:lnTo>
                    <a:pt x="4512446" y="43"/>
                  </a:lnTo>
                  <a:lnTo>
                    <a:pt x="4593488" y="173"/>
                  </a:lnTo>
                  <a:lnTo>
                    <a:pt x="4674163" y="389"/>
                  </a:lnTo>
                  <a:lnTo>
                    <a:pt x="4754457" y="691"/>
                  </a:lnTo>
                  <a:lnTo>
                    <a:pt x="4834357" y="1076"/>
                  </a:lnTo>
                  <a:lnTo>
                    <a:pt x="4913852" y="1546"/>
                  </a:lnTo>
                  <a:lnTo>
                    <a:pt x="4992929" y="2098"/>
                  </a:lnTo>
                  <a:lnTo>
                    <a:pt x="5071574" y="2733"/>
                  </a:lnTo>
                  <a:lnTo>
                    <a:pt x="5149777" y="3449"/>
                  </a:lnTo>
                  <a:lnTo>
                    <a:pt x="5227523" y="4245"/>
                  </a:lnTo>
                  <a:lnTo>
                    <a:pt x="5304802" y="5122"/>
                  </a:lnTo>
                  <a:lnTo>
                    <a:pt x="5381599" y="6078"/>
                  </a:lnTo>
                  <a:lnTo>
                    <a:pt x="5457903" y="7112"/>
                  </a:lnTo>
                  <a:lnTo>
                    <a:pt x="5533701" y="8224"/>
                  </a:lnTo>
                  <a:lnTo>
                    <a:pt x="5608981" y="9413"/>
                  </a:lnTo>
                  <a:lnTo>
                    <a:pt x="5683730" y="10678"/>
                  </a:lnTo>
                  <a:lnTo>
                    <a:pt x="5757935" y="12019"/>
                  </a:lnTo>
                  <a:lnTo>
                    <a:pt x="5831585" y="13434"/>
                  </a:lnTo>
                  <a:lnTo>
                    <a:pt x="5904666" y="14923"/>
                  </a:lnTo>
                  <a:lnTo>
                    <a:pt x="5977166" y="16486"/>
                  </a:lnTo>
                  <a:lnTo>
                    <a:pt x="6049073" y="18121"/>
                  </a:lnTo>
                  <a:lnTo>
                    <a:pt x="6120373" y="19828"/>
                  </a:lnTo>
                  <a:lnTo>
                    <a:pt x="6191056" y="21606"/>
                  </a:lnTo>
                  <a:lnTo>
                    <a:pt x="6261107" y="23454"/>
                  </a:lnTo>
                  <a:lnTo>
                    <a:pt x="6330514" y="25372"/>
                  </a:lnTo>
                  <a:lnTo>
                    <a:pt x="6399266" y="27359"/>
                  </a:lnTo>
                  <a:lnTo>
                    <a:pt x="6467349" y="29413"/>
                  </a:lnTo>
                  <a:lnTo>
                    <a:pt x="6534750" y="31535"/>
                  </a:lnTo>
                  <a:lnTo>
                    <a:pt x="6601459" y="33724"/>
                  </a:lnTo>
                  <a:lnTo>
                    <a:pt x="6667461" y="35978"/>
                  </a:lnTo>
                  <a:lnTo>
                    <a:pt x="6732744" y="38297"/>
                  </a:lnTo>
                  <a:lnTo>
                    <a:pt x="6797297" y="40681"/>
                  </a:lnTo>
                  <a:lnTo>
                    <a:pt x="6861105" y="43128"/>
                  </a:lnTo>
                  <a:lnTo>
                    <a:pt x="6924158" y="45638"/>
                  </a:lnTo>
                  <a:lnTo>
                    <a:pt x="6986442" y="48211"/>
                  </a:lnTo>
                  <a:lnTo>
                    <a:pt x="7047944" y="50844"/>
                  </a:lnTo>
                  <a:lnTo>
                    <a:pt x="7108653" y="53538"/>
                  </a:lnTo>
                  <a:lnTo>
                    <a:pt x="7168556" y="56292"/>
                  </a:lnTo>
                  <a:lnTo>
                    <a:pt x="7227640" y="59105"/>
                  </a:lnTo>
                  <a:lnTo>
                    <a:pt x="7285892" y="61977"/>
                  </a:lnTo>
                  <a:lnTo>
                    <a:pt x="7343301" y="64906"/>
                  </a:lnTo>
                  <a:lnTo>
                    <a:pt x="7399854" y="67892"/>
                  </a:lnTo>
                  <a:lnTo>
                    <a:pt x="7455537" y="70934"/>
                  </a:lnTo>
                  <a:lnTo>
                    <a:pt x="7510340" y="74032"/>
                  </a:lnTo>
                  <a:lnTo>
                    <a:pt x="7564248" y="77184"/>
                  </a:lnTo>
                  <a:lnTo>
                    <a:pt x="7617251" y="80390"/>
                  </a:lnTo>
                  <a:lnTo>
                    <a:pt x="7669334" y="83649"/>
                  </a:lnTo>
                  <a:lnTo>
                    <a:pt x="7720486" y="86961"/>
                  </a:lnTo>
                  <a:lnTo>
                    <a:pt x="7770694" y="90324"/>
                  </a:lnTo>
                  <a:lnTo>
                    <a:pt x="7819946" y="93738"/>
                  </a:lnTo>
                  <a:lnTo>
                    <a:pt x="7868228" y="97203"/>
                  </a:lnTo>
                  <a:lnTo>
                    <a:pt x="7915530" y="100716"/>
                  </a:lnTo>
                  <a:lnTo>
                    <a:pt x="7961837" y="104279"/>
                  </a:lnTo>
                  <a:lnTo>
                    <a:pt x="8007138" y="107890"/>
                  </a:lnTo>
                  <a:lnTo>
                    <a:pt x="8051419" y="111547"/>
                  </a:lnTo>
                  <a:lnTo>
                    <a:pt x="8094670" y="115251"/>
                  </a:lnTo>
                  <a:lnTo>
                    <a:pt x="8136876" y="119001"/>
                  </a:lnTo>
                  <a:lnTo>
                    <a:pt x="8178026" y="122796"/>
                  </a:lnTo>
                  <a:lnTo>
                    <a:pt x="8218107" y="126635"/>
                  </a:lnTo>
                  <a:lnTo>
                    <a:pt x="8257106" y="130518"/>
                  </a:lnTo>
                  <a:lnTo>
                    <a:pt x="8295011" y="134443"/>
                  </a:lnTo>
                  <a:lnTo>
                    <a:pt x="8367489" y="142419"/>
                  </a:lnTo>
                  <a:lnTo>
                    <a:pt x="8435440" y="150557"/>
                  </a:lnTo>
                  <a:lnTo>
                    <a:pt x="8498765" y="158851"/>
                  </a:lnTo>
                  <a:lnTo>
                    <a:pt x="8557363" y="167295"/>
                  </a:lnTo>
                  <a:lnTo>
                    <a:pt x="8611134" y="175883"/>
                  </a:lnTo>
                  <a:lnTo>
                    <a:pt x="8659978" y="184610"/>
                  </a:lnTo>
                  <a:lnTo>
                    <a:pt x="8703795" y="193469"/>
                  </a:lnTo>
                  <a:lnTo>
                    <a:pt x="8742484" y="202454"/>
                  </a:lnTo>
                  <a:lnTo>
                    <a:pt x="8790687" y="216155"/>
                  </a:lnTo>
                  <a:lnTo>
                    <a:pt x="8826789" y="230107"/>
                  </a:lnTo>
                  <a:lnTo>
                    <a:pt x="8859155" y="253864"/>
                  </a:lnTo>
                  <a:lnTo>
                    <a:pt x="8862077" y="263525"/>
                  </a:lnTo>
                  <a:lnTo>
                    <a:pt x="8861345" y="268493"/>
                  </a:lnTo>
                  <a:lnTo>
                    <a:pt x="8859155" y="273312"/>
                  </a:lnTo>
                  <a:lnTo>
                    <a:pt x="8826789" y="297069"/>
                  </a:lnTo>
                  <a:lnTo>
                    <a:pt x="8790687" y="311021"/>
                  </a:lnTo>
                  <a:lnTo>
                    <a:pt x="8742484" y="324722"/>
                  </a:lnTo>
                  <a:lnTo>
                    <a:pt x="8703795" y="333707"/>
                  </a:lnTo>
                  <a:lnTo>
                    <a:pt x="8659978" y="342566"/>
                  </a:lnTo>
                  <a:lnTo>
                    <a:pt x="8611134" y="351293"/>
                  </a:lnTo>
                  <a:lnTo>
                    <a:pt x="8557363" y="359881"/>
                  </a:lnTo>
                  <a:lnTo>
                    <a:pt x="8498765" y="368325"/>
                  </a:lnTo>
                  <a:lnTo>
                    <a:pt x="8435440" y="376619"/>
                  </a:lnTo>
                  <a:lnTo>
                    <a:pt x="8367489" y="384757"/>
                  </a:lnTo>
                  <a:lnTo>
                    <a:pt x="8295011" y="392733"/>
                  </a:lnTo>
                  <a:lnTo>
                    <a:pt x="8257106" y="396658"/>
                  </a:lnTo>
                  <a:lnTo>
                    <a:pt x="8218107" y="400541"/>
                  </a:lnTo>
                  <a:lnTo>
                    <a:pt x="8178026" y="404380"/>
                  </a:lnTo>
                  <a:lnTo>
                    <a:pt x="8136876" y="408175"/>
                  </a:lnTo>
                  <a:lnTo>
                    <a:pt x="8094670" y="411925"/>
                  </a:lnTo>
                  <a:lnTo>
                    <a:pt x="8051419" y="415629"/>
                  </a:lnTo>
                  <a:lnTo>
                    <a:pt x="8007138" y="419286"/>
                  </a:lnTo>
                  <a:lnTo>
                    <a:pt x="7961837" y="422897"/>
                  </a:lnTo>
                  <a:lnTo>
                    <a:pt x="7915530" y="426460"/>
                  </a:lnTo>
                  <a:lnTo>
                    <a:pt x="7868228" y="429973"/>
                  </a:lnTo>
                  <a:lnTo>
                    <a:pt x="7819946" y="433438"/>
                  </a:lnTo>
                  <a:lnTo>
                    <a:pt x="7770694" y="436852"/>
                  </a:lnTo>
                  <a:lnTo>
                    <a:pt x="7720486" y="440215"/>
                  </a:lnTo>
                  <a:lnTo>
                    <a:pt x="7669334" y="443527"/>
                  </a:lnTo>
                  <a:lnTo>
                    <a:pt x="7617251" y="446786"/>
                  </a:lnTo>
                  <a:lnTo>
                    <a:pt x="7564248" y="449992"/>
                  </a:lnTo>
                  <a:lnTo>
                    <a:pt x="7510340" y="453144"/>
                  </a:lnTo>
                  <a:lnTo>
                    <a:pt x="7455537" y="456242"/>
                  </a:lnTo>
                  <a:lnTo>
                    <a:pt x="7399854" y="459284"/>
                  </a:lnTo>
                  <a:lnTo>
                    <a:pt x="7343301" y="462270"/>
                  </a:lnTo>
                  <a:lnTo>
                    <a:pt x="7285892" y="465199"/>
                  </a:lnTo>
                  <a:lnTo>
                    <a:pt x="7227640" y="468071"/>
                  </a:lnTo>
                  <a:lnTo>
                    <a:pt x="7168556" y="470884"/>
                  </a:lnTo>
                  <a:lnTo>
                    <a:pt x="7108653" y="473638"/>
                  </a:lnTo>
                  <a:lnTo>
                    <a:pt x="7047944" y="476332"/>
                  </a:lnTo>
                  <a:lnTo>
                    <a:pt x="6986442" y="478965"/>
                  </a:lnTo>
                  <a:lnTo>
                    <a:pt x="6924158" y="481538"/>
                  </a:lnTo>
                  <a:lnTo>
                    <a:pt x="6861105" y="484048"/>
                  </a:lnTo>
                  <a:lnTo>
                    <a:pt x="6797297" y="486495"/>
                  </a:lnTo>
                  <a:lnTo>
                    <a:pt x="6732744" y="488879"/>
                  </a:lnTo>
                  <a:lnTo>
                    <a:pt x="6667461" y="491198"/>
                  </a:lnTo>
                  <a:lnTo>
                    <a:pt x="6601459" y="493452"/>
                  </a:lnTo>
                  <a:lnTo>
                    <a:pt x="6534750" y="495641"/>
                  </a:lnTo>
                  <a:lnTo>
                    <a:pt x="6467349" y="497763"/>
                  </a:lnTo>
                  <a:lnTo>
                    <a:pt x="6399266" y="499817"/>
                  </a:lnTo>
                  <a:lnTo>
                    <a:pt x="6330514" y="501804"/>
                  </a:lnTo>
                  <a:lnTo>
                    <a:pt x="6261107" y="503722"/>
                  </a:lnTo>
                  <a:lnTo>
                    <a:pt x="6191056" y="505570"/>
                  </a:lnTo>
                  <a:lnTo>
                    <a:pt x="6120373" y="507348"/>
                  </a:lnTo>
                  <a:lnTo>
                    <a:pt x="6049073" y="509055"/>
                  </a:lnTo>
                  <a:lnTo>
                    <a:pt x="5977166" y="510690"/>
                  </a:lnTo>
                  <a:lnTo>
                    <a:pt x="5904666" y="512253"/>
                  </a:lnTo>
                  <a:lnTo>
                    <a:pt x="5831585" y="513742"/>
                  </a:lnTo>
                  <a:lnTo>
                    <a:pt x="5757935" y="515157"/>
                  </a:lnTo>
                  <a:lnTo>
                    <a:pt x="5683730" y="516498"/>
                  </a:lnTo>
                  <a:lnTo>
                    <a:pt x="5608981" y="517763"/>
                  </a:lnTo>
                  <a:lnTo>
                    <a:pt x="5533701" y="518952"/>
                  </a:lnTo>
                  <a:lnTo>
                    <a:pt x="5457903" y="520064"/>
                  </a:lnTo>
                  <a:lnTo>
                    <a:pt x="5381599" y="521098"/>
                  </a:lnTo>
                  <a:lnTo>
                    <a:pt x="5304802" y="522054"/>
                  </a:lnTo>
                  <a:lnTo>
                    <a:pt x="5227523" y="522931"/>
                  </a:lnTo>
                  <a:lnTo>
                    <a:pt x="5149777" y="523727"/>
                  </a:lnTo>
                  <a:lnTo>
                    <a:pt x="5071574" y="524443"/>
                  </a:lnTo>
                  <a:lnTo>
                    <a:pt x="4992929" y="525078"/>
                  </a:lnTo>
                  <a:lnTo>
                    <a:pt x="4913852" y="525630"/>
                  </a:lnTo>
                  <a:lnTo>
                    <a:pt x="4834357" y="526100"/>
                  </a:lnTo>
                  <a:lnTo>
                    <a:pt x="4754457" y="526485"/>
                  </a:lnTo>
                  <a:lnTo>
                    <a:pt x="4674163" y="526787"/>
                  </a:lnTo>
                  <a:lnTo>
                    <a:pt x="4593488" y="527003"/>
                  </a:lnTo>
                  <a:lnTo>
                    <a:pt x="4512446" y="527133"/>
                  </a:lnTo>
                  <a:lnTo>
                    <a:pt x="4431047" y="527176"/>
                  </a:lnTo>
                  <a:lnTo>
                    <a:pt x="4349649" y="527133"/>
                  </a:lnTo>
                  <a:lnTo>
                    <a:pt x="4268606" y="527003"/>
                  </a:lnTo>
                  <a:lnTo>
                    <a:pt x="4187932" y="526787"/>
                  </a:lnTo>
                  <a:lnTo>
                    <a:pt x="4107638" y="526485"/>
                  </a:lnTo>
                  <a:lnTo>
                    <a:pt x="4027737" y="526100"/>
                  </a:lnTo>
                  <a:lnTo>
                    <a:pt x="3948242" y="525630"/>
                  </a:lnTo>
                  <a:lnTo>
                    <a:pt x="3869166" y="525078"/>
                  </a:lnTo>
                  <a:lnTo>
                    <a:pt x="3790520" y="524443"/>
                  </a:lnTo>
                  <a:lnTo>
                    <a:pt x="3712317" y="523727"/>
                  </a:lnTo>
                  <a:lnTo>
                    <a:pt x="3634571" y="522931"/>
                  </a:lnTo>
                  <a:lnTo>
                    <a:pt x="3557292" y="522054"/>
                  </a:lnTo>
                  <a:lnTo>
                    <a:pt x="3480495" y="521098"/>
                  </a:lnTo>
                  <a:lnTo>
                    <a:pt x="3404191" y="520064"/>
                  </a:lnTo>
                  <a:lnTo>
                    <a:pt x="3328392" y="518952"/>
                  </a:lnTo>
                  <a:lnTo>
                    <a:pt x="3253112" y="517763"/>
                  </a:lnTo>
                  <a:lnTo>
                    <a:pt x="3178363" y="516498"/>
                  </a:lnTo>
                  <a:lnTo>
                    <a:pt x="3104158" y="515157"/>
                  </a:lnTo>
                  <a:lnTo>
                    <a:pt x="3030508" y="513742"/>
                  </a:lnTo>
                  <a:lnTo>
                    <a:pt x="2957427" y="512253"/>
                  </a:lnTo>
                  <a:lnTo>
                    <a:pt x="2884926" y="510690"/>
                  </a:lnTo>
                  <a:lnTo>
                    <a:pt x="2813019" y="509055"/>
                  </a:lnTo>
                  <a:lnTo>
                    <a:pt x="2741719" y="507348"/>
                  </a:lnTo>
                  <a:lnTo>
                    <a:pt x="2671036" y="505570"/>
                  </a:lnTo>
                  <a:lnTo>
                    <a:pt x="2600985" y="503722"/>
                  </a:lnTo>
                  <a:lnTo>
                    <a:pt x="2531577" y="501804"/>
                  </a:lnTo>
                  <a:lnTo>
                    <a:pt x="2462826" y="499817"/>
                  </a:lnTo>
                  <a:lnTo>
                    <a:pt x="2394742" y="497763"/>
                  </a:lnTo>
                  <a:lnTo>
                    <a:pt x="2327340" y="495641"/>
                  </a:lnTo>
                  <a:lnTo>
                    <a:pt x="2260632" y="493452"/>
                  </a:lnTo>
                  <a:lnTo>
                    <a:pt x="2194629" y="491198"/>
                  </a:lnTo>
                  <a:lnTo>
                    <a:pt x="2129346" y="488879"/>
                  </a:lnTo>
                  <a:lnTo>
                    <a:pt x="2064793" y="486495"/>
                  </a:lnTo>
                  <a:lnTo>
                    <a:pt x="2000984" y="484048"/>
                  </a:lnTo>
                  <a:lnTo>
                    <a:pt x="1937931" y="481538"/>
                  </a:lnTo>
                  <a:lnTo>
                    <a:pt x="1875647" y="478965"/>
                  </a:lnTo>
                  <a:lnTo>
                    <a:pt x="1814144" y="476332"/>
                  </a:lnTo>
                  <a:lnTo>
                    <a:pt x="1753435" y="473638"/>
                  </a:lnTo>
                  <a:lnTo>
                    <a:pt x="1693532" y="470884"/>
                  </a:lnTo>
                  <a:lnTo>
                    <a:pt x="1634448" y="468071"/>
                  </a:lnTo>
                  <a:lnTo>
                    <a:pt x="1576195" y="465199"/>
                  </a:lnTo>
                  <a:lnTo>
                    <a:pt x="1518786" y="462270"/>
                  </a:lnTo>
                  <a:lnTo>
                    <a:pt x="1462233" y="459284"/>
                  </a:lnTo>
                  <a:lnTo>
                    <a:pt x="1406549" y="456242"/>
                  </a:lnTo>
                  <a:lnTo>
                    <a:pt x="1351747" y="453144"/>
                  </a:lnTo>
                  <a:lnTo>
                    <a:pt x="1297838" y="449992"/>
                  </a:lnTo>
                  <a:lnTo>
                    <a:pt x="1244835" y="446786"/>
                  </a:lnTo>
                  <a:lnTo>
                    <a:pt x="1192752" y="443527"/>
                  </a:lnTo>
                  <a:lnTo>
                    <a:pt x="1141600" y="440215"/>
                  </a:lnTo>
                  <a:lnTo>
                    <a:pt x="1091391" y="436852"/>
                  </a:lnTo>
                  <a:lnTo>
                    <a:pt x="1042139" y="433438"/>
                  </a:lnTo>
                  <a:lnTo>
                    <a:pt x="993856" y="429973"/>
                  </a:lnTo>
                  <a:lnTo>
                    <a:pt x="946555" y="426460"/>
                  </a:lnTo>
                  <a:lnTo>
                    <a:pt x="900247" y="422897"/>
                  </a:lnTo>
                  <a:lnTo>
                    <a:pt x="854946" y="419286"/>
                  </a:lnTo>
                  <a:lnTo>
                    <a:pt x="810664" y="415629"/>
                  </a:lnTo>
                  <a:lnTo>
                    <a:pt x="767414" y="411925"/>
                  </a:lnTo>
                  <a:lnTo>
                    <a:pt x="725207" y="408175"/>
                  </a:lnTo>
                  <a:lnTo>
                    <a:pt x="684057" y="404380"/>
                  </a:lnTo>
                  <a:lnTo>
                    <a:pt x="643976" y="400541"/>
                  </a:lnTo>
                  <a:lnTo>
                    <a:pt x="604977" y="396658"/>
                  </a:lnTo>
                  <a:lnTo>
                    <a:pt x="567071" y="392733"/>
                  </a:lnTo>
                  <a:lnTo>
                    <a:pt x="494593" y="384757"/>
                  </a:lnTo>
                  <a:lnTo>
                    <a:pt x="426641" y="376619"/>
                  </a:lnTo>
                  <a:lnTo>
                    <a:pt x="363316" y="368325"/>
                  </a:lnTo>
                  <a:lnTo>
                    <a:pt x="304718" y="359881"/>
                  </a:lnTo>
                  <a:lnTo>
                    <a:pt x="250946" y="351293"/>
                  </a:lnTo>
                  <a:lnTo>
                    <a:pt x="202102" y="342566"/>
                  </a:lnTo>
                  <a:lnTo>
                    <a:pt x="158285" y="333707"/>
                  </a:lnTo>
                  <a:lnTo>
                    <a:pt x="119595" y="324722"/>
                  </a:lnTo>
                  <a:lnTo>
                    <a:pt x="71392" y="311021"/>
                  </a:lnTo>
                  <a:lnTo>
                    <a:pt x="35289" y="297069"/>
                  </a:lnTo>
                  <a:lnTo>
                    <a:pt x="2923" y="273312"/>
                  </a:lnTo>
                  <a:lnTo>
                    <a:pt x="1" y="263651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" name="Google Shape;86;p9"/>
          <p:cNvSpPr txBox="1"/>
          <p:nvPr/>
        </p:nvSpPr>
        <p:spPr>
          <a:xfrm>
            <a:off x="4215129" y="4668418"/>
            <a:ext cx="71247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12FAC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 txBox="1"/>
          <p:nvPr/>
        </p:nvSpPr>
        <p:spPr>
          <a:xfrm>
            <a:off x="8224519" y="2157729"/>
            <a:ext cx="6083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12FAC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/>
          <p:nvPr>
            <p:ph type="title"/>
          </p:nvPr>
        </p:nvSpPr>
        <p:spPr>
          <a:xfrm>
            <a:off x="444804" y="255524"/>
            <a:ext cx="82545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Titanic disaster - 1912</a:t>
            </a:r>
            <a:endParaRPr/>
          </a:p>
        </p:txBody>
      </p:sp>
      <p:sp>
        <p:nvSpPr>
          <p:cNvPr id="93" name="Google Shape;93;p10"/>
          <p:cNvSpPr txBox="1"/>
          <p:nvPr>
            <p:ph idx="1" type="body"/>
          </p:nvPr>
        </p:nvSpPr>
        <p:spPr>
          <a:xfrm>
            <a:off x="4139946" y="987551"/>
            <a:ext cx="4248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150" y="784775"/>
            <a:ext cx="6073251" cy="41601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0"/>
          <p:cNvSpPr txBox="1"/>
          <p:nvPr/>
        </p:nvSpPr>
        <p:spPr>
          <a:xfrm>
            <a:off x="6455150" y="820225"/>
            <a:ext cx="2604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highlight>
                  <a:srgbClr val="FFFFFF"/>
                </a:highlight>
              </a:rPr>
              <a:t>Titanic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 sank on 15 April 1912 in the North Atlantic Ocean. The largest ocean liner in service at the time, </a:t>
            </a:r>
            <a:r>
              <a:rPr i="1" lang="en-US" sz="1200">
                <a:solidFill>
                  <a:srgbClr val="202122"/>
                </a:solidFill>
                <a:highlight>
                  <a:srgbClr val="FFFFFF"/>
                </a:highlight>
              </a:rPr>
              <a:t>Titanic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 was four days into its maiden voyage from Southampton 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England,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 (incl. Cherbourg and Queenstown) to New York City, United States, with an estimated 2,224 people on board when it struck an iceberg at 23:40 (ship's time) on 14 April. 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It sank two hours and forty minutes later at 02:20 ship's time (05:18 GMT) on 15 April, resulting in the deaths of up to 1,635 people, making it one of the deadliest peacetime maritime disasters in history…</a:t>
            </a:r>
            <a:endParaRPr/>
          </a:p>
        </p:txBody>
      </p:sp>
      <p:sp>
        <p:nvSpPr>
          <p:cNvPr id="96" name="Google Shape;96;p10"/>
          <p:cNvSpPr txBox="1"/>
          <p:nvPr/>
        </p:nvSpPr>
        <p:spPr>
          <a:xfrm>
            <a:off x="6455150" y="4329625"/>
            <a:ext cx="268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4"/>
              </a:rPr>
              <a:t>https://en.wikipedia.org/wiki/Sinking_of_the_Titanic</a:t>
            </a:r>
            <a:r>
              <a:rPr lang="en-US" sz="1200"/>
              <a:t> 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/>
          <p:nvPr/>
        </p:nvSpPr>
        <p:spPr>
          <a:xfrm>
            <a:off x="457200" y="2803525"/>
            <a:ext cx="6248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preprocessing and feature engineering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>
            <a:off x="444796" y="255525"/>
            <a:ext cx="48438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preprocessing</a:t>
            </a:r>
            <a:endParaRPr/>
          </a:p>
        </p:txBody>
      </p:sp>
      <p:pic>
        <p:nvPicPr>
          <p:cNvPr id="107" name="Google Shape;1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1682" y="1910809"/>
            <a:ext cx="3040634" cy="2363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541" y="2137536"/>
            <a:ext cx="2160270" cy="20162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/>
        </p:nvSpPr>
        <p:spPr>
          <a:xfrm>
            <a:off x="633476" y="867283"/>
            <a:ext cx="2790254" cy="22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problems with raw data: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638746" y="1104674"/>
            <a:ext cx="27903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1450" lvl="0" marL="18351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3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NaN-s;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835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3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outliers,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835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3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non-standard formatting;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835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3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6022" y="1994444"/>
            <a:ext cx="1496377" cy="218102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2"/>
          <p:cNvSpPr txBox="1"/>
          <p:nvPr/>
        </p:nvSpPr>
        <p:spPr>
          <a:xfrm>
            <a:off x="4631811" y="731836"/>
            <a:ext cx="1088461" cy="22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4571999" y="977609"/>
            <a:ext cx="35799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1450" lvl="0" marL="1835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cleaning;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835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formatting;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835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scaling / normalization;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835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processing of categorical features…etc.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1135225" y="4153791"/>
            <a:ext cx="1085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/>
          <p:nvPr/>
        </p:nvSpPr>
        <p:spPr>
          <a:xfrm>
            <a:off x="4319396" y="4261205"/>
            <a:ext cx="481204" cy="198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>
            <a:off x="6923277" y="4261205"/>
            <a:ext cx="743697" cy="198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6858000" y="2137537"/>
            <a:ext cx="304800" cy="265178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6871810" y="2544952"/>
            <a:ext cx="304800" cy="265178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6871810" y="3145661"/>
            <a:ext cx="304800" cy="419863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6858000" y="3752716"/>
            <a:ext cx="304800" cy="419863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458647" y="241650"/>
            <a:ext cx="38871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preprocessing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304800" y="840157"/>
            <a:ext cx="35052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0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Non-standardized formatting use-cases:</a:t>
            </a:r>
            <a:endParaRPr b="0" i="0" sz="1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327445" y="1435526"/>
            <a:ext cx="355875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‘SpB’, ‘spb’, ‘SPB’, ‘Spetersburg’, ‘S-Petersburg’, ‘sptrsbrg’, ‘Saint-Petersburg’, ‘spb’, ‘Питер’, ‘СПб’, ‘Санкт-петербург’, ‘С.-Петербург’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5410200" y="1812925"/>
            <a:ext cx="26504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Saint-Petersburg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3886200" y="1889125"/>
            <a:ext cx="990600" cy="2931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3886200" y="3565525"/>
            <a:ext cx="990600" cy="2931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327445" y="3127315"/>
            <a:ext cx="3066355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08.07.2024, 08.07.2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08-07-24, 08//07//2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07/08/2024, 08-07-2024,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2024-08-07, 08Jul202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8 JULY 202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2024 july 08, 8 июля 2024 года,         8 июля 24 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5394626" y="3489325"/>
            <a:ext cx="12362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08.07.2024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type="title"/>
          </p:nvPr>
        </p:nvSpPr>
        <p:spPr>
          <a:xfrm>
            <a:off x="444799" y="255525"/>
            <a:ext cx="67221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Methods for handling outliers and missing data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5805788" y="1092600"/>
            <a:ext cx="30615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Outliers / NaNs  in data can be: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8351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filled in (e.g. mean, median or majority class);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835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" name="Google Shape;139;p14"/>
          <p:cNvGrpSpPr/>
          <p:nvPr/>
        </p:nvGrpSpPr>
        <p:grpSpPr>
          <a:xfrm>
            <a:off x="5002275" y="2875793"/>
            <a:ext cx="1627124" cy="1078103"/>
            <a:chOff x="4820284" y="2011679"/>
            <a:chExt cx="1627124" cy="1078103"/>
          </a:xfrm>
        </p:grpSpPr>
        <p:pic>
          <p:nvPicPr>
            <p:cNvPr id="140" name="Google Shape;14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20284" y="2026030"/>
              <a:ext cx="1627124" cy="1063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13247" y="2252471"/>
              <a:ext cx="115824" cy="3718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4"/>
            <p:cNvSpPr/>
            <p:nvPr/>
          </p:nvSpPr>
          <p:spPr>
            <a:xfrm>
              <a:off x="5470651" y="2278760"/>
              <a:ext cx="0" cy="280670"/>
            </a:xfrm>
            <a:custGeom>
              <a:rect b="b" l="l" r="r" t="t"/>
              <a:pathLst>
                <a:path extrusionOk="0" h="280669" w="120000">
                  <a:moveTo>
                    <a:pt x="0" y="0"/>
                  </a:moveTo>
                  <a:lnTo>
                    <a:pt x="0" y="280288"/>
                  </a:lnTo>
                </a:path>
              </a:pathLst>
            </a:custGeom>
            <a:noFill/>
            <a:ln cap="flat" cmpd="sng" w="25400">
              <a:solidFill>
                <a:srgbClr val="EB00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3" name="Google Shape;143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99175" y="2398775"/>
              <a:ext cx="118872" cy="2987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14"/>
            <p:cNvSpPr/>
            <p:nvPr/>
          </p:nvSpPr>
          <p:spPr>
            <a:xfrm>
              <a:off x="5658992" y="2424429"/>
              <a:ext cx="0" cy="207645"/>
            </a:xfrm>
            <a:custGeom>
              <a:rect b="b" l="l" r="r" t="t"/>
              <a:pathLst>
                <a:path extrusionOk="0" h="207644" w="120000">
                  <a:moveTo>
                    <a:pt x="0" y="207391"/>
                  </a:moveTo>
                  <a:lnTo>
                    <a:pt x="0" y="0"/>
                  </a:lnTo>
                </a:path>
              </a:pathLst>
            </a:custGeom>
            <a:noFill/>
            <a:ln cap="flat" cmpd="sng" w="25400">
              <a:solidFill>
                <a:srgbClr val="EB00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5" name="Google Shape;145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84519" y="2157983"/>
              <a:ext cx="115824" cy="2468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4"/>
            <p:cNvSpPr/>
            <p:nvPr/>
          </p:nvSpPr>
          <p:spPr>
            <a:xfrm>
              <a:off x="5742304" y="2184145"/>
              <a:ext cx="0" cy="156845"/>
            </a:xfrm>
            <a:custGeom>
              <a:rect b="b" l="l" r="r" t="t"/>
              <a:pathLst>
                <a:path extrusionOk="0" h="156844" w="120000">
                  <a:moveTo>
                    <a:pt x="0" y="0"/>
                  </a:moveTo>
                  <a:lnTo>
                    <a:pt x="0" y="156463"/>
                  </a:lnTo>
                </a:path>
              </a:pathLst>
            </a:custGeom>
            <a:noFill/>
            <a:ln cap="flat" cmpd="sng" w="25400">
              <a:solidFill>
                <a:srgbClr val="EB00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785103" y="2252471"/>
              <a:ext cx="118872" cy="271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4"/>
            <p:cNvSpPr/>
            <p:nvPr/>
          </p:nvSpPr>
          <p:spPr>
            <a:xfrm>
              <a:off x="5844158" y="2278760"/>
              <a:ext cx="0" cy="178435"/>
            </a:xfrm>
            <a:custGeom>
              <a:rect b="b" l="l" r="r" t="t"/>
              <a:pathLst>
                <a:path extrusionOk="0" h="178435" w="120000">
                  <a:moveTo>
                    <a:pt x="0" y="178435"/>
                  </a:moveTo>
                  <a:lnTo>
                    <a:pt x="0" y="0"/>
                  </a:lnTo>
                </a:path>
              </a:pathLst>
            </a:custGeom>
            <a:noFill/>
            <a:ln cap="flat" cmpd="sng" w="25400">
              <a:solidFill>
                <a:srgbClr val="EB00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9" name="Google Shape;149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086855" y="2011679"/>
              <a:ext cx="118872" cy="1920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4"/>
            <p:cNvSpPr/>
            <p:nvPr/>
          </p:nvSpPr>
          <p:spPr>
            <a:xfrm>
              <a:off x="6146799" y="2036952"/>
              <a:ext cx="0" cy="100330"/>
            </a:xfrm>
            <a:custGeom>
              <a:rect b="b" l="l" r="r" t="t"/>
              <a:pathLst>
                <a:path extrusionOk="0" h="100330" w="120000">
                  <a:moveTo>
                    <a:pt x="0" y="99821"/>
                  </a:moveTo>
                  <a:lnTo>
                    <a:pt x="0" y="0"/>
                  </a:lnTo>
                </a:path>
              </a:pathLst>
            </a:custGeom>
            <a:noFill/>
            <a:ln cap="flat" cmpd="sng" w="25400">
              <a:solidFill>
                <a:srgbClr val="EB00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1" name="Google Shape;151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224271" y="2621279"/>
              <a:ext cx="115824" cy="155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4"/>
            <p:cNvSpPr/>
            <p:nvPr/>
          </p:nvSpPr>
          <p:spPr>
            <a:xfrm>
              <a:off x="5282310" y="2646425"/>
              <a:ext cx="0" cy="66040"/>
            </a:xfrm>
            <a:custGeom>
              <a:rect b="b" l="l" r="r" t="t"/>
              <a:pathLst>
                <a:path extrusionOk="0" h="66039" w="120000">
                  <a:moveTo>
                    <a:pt x="0" y="0"/>
                  </a:moveTo>
                  <a:lnTo>
                    <a:pt x="0" y="65531"/>
                  </a:lnTo>
                </a:path>
              </a:pathLst>
            </a:custGeom>
            <a:noFill/>
            <a:ln cap="flat" cmpd="sng" w="25400">
              <a:solidFill>
                <a:srgbClr val="EB00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3" name="Google Shape;153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141975" y="2767583"/>
              <a:ext cx="115824" cy="1584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4"/>
            <p:cNvSpPr/>
            <p:nvPr/>
          </p:nvSpPr>
          <p:spPr>
            <a:xfrm>
              <a:off x="5198871" y="2791967"/>
              <a:ext cx="0" cy="69215"/>
            </a:xfrm>
            <a:custGeom>
              <a:rect b="b" l="l" r="r" t="t"/>
              <a:pathLst>
                <a:path extrusionOk="0" h="69214" w="120000">
                  <a:moveTo>
                    <a:pt x="0" y="69214"/>
                  </a:moveTo>
                  <a:lnTo>
                    <a:pt x="0" y="0"/>
                  </a:lnTo>
                </a:path>
              </a:pathLst>
            </a:custGeom>
            <a:noFill/>
            <a:ln cap="flat" cmpd="sng" w="25400">
              <a:solidFill>
                <a:srgbClr val="EB00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4"/>
          <p:cNvSpPr txBox="1"/>
          <p:nvPr/>
        </p:nvSpPr>
        <p:spPr>
          <a:xfrm>
            <a:off x="6629399" y="3705656"/>
            <a:ext cx="1110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5142356" y="2885014"/>
            <a:ext cx="1110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57" name="Google Shape;157;p14"/>
          <p:cNvGrpSpPr/>
          <p:nvPr/>
        </p:nvGrpSpPr>
        <p:grpSpPr>
          <a:xfrm>
            <a:off x="4959857" y="3083946"/>
            <a:ext cx="1757044" cy="361442"/>
            <a:chOff x="4777866" y="2219832"/>
            <a:chExt cx="1757044" cy="361442"/>
          </a:xfrm>
        </p:grpSpPr>
        <p:pic>
          <p:nvPicPr>
            <p:cNvPr id="158" name="Google Shape;158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786121" y="2426131"/>
              <a:ext cx="80661" cy="155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843271" y="2450591"/>
              <a:ext cx="1045463" cy="97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4"/>
            <p:cNvSpPr/>
            <p:nvPr/>
          </p:nvSpPr>
          <p:spPr>
            <a:xfrm>
              <a:off x="4889372" y="2480690"/>
              <a:ext cx="955040" cy="0"/>
            </a:xfrm>
            <a:custGeom>
              <a:rect b="b" l="l" r="r" t="t"/>
              <a:pathLst>
                <a:path extrusionOk="0" h="120000" w="955039">
                  <a:moveTo>
                    <a:pt x="95478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1" name="Google Shape;161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834127" y="2255519"/>
              <a:ext cx="1045463" cy="97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4"/>
            <p:cNvSpPr/>
            <p:nvPr/>
          </p:nvSpPr>
          <p:spPr>
            <a:xfrm>
              <a:off x="4880101" y="2284094"/>
              <a:ext cx="955040" cy="0"/>
            </a:xfrm>
            <a:custGeom>
              <a:rect b="b" l="l" r="r" t="t"/>
              <a:pathLst>
                <a:path extrusionOk="0" h="120000" w="955039">
                  <a:moveTo>
                    <a:pt x="954913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3" name="Google Shape;163;p1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777866" y="2219832"/>
              <a:ext cx="76415" cy="1601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861303" y="2289047"/>
              <a:ext cx="673607" cy="2438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14"/>
            <p:cNvSpPr/>
            <p:nvPr/>
          </p:nvSpPr>
          <p:spPr>
            <a:xfrm>
              <a:off x="5983731" y="2351912"/>
              <a:ext cx="506730" cy="76200"/>
            </a:xfrm>
            <a:custGeom>
              <a:rect b="b" l="l" r="r" t="t"/>
              <a:pathLst>
                <a:path extrusionOk="0" h="76200" w="506729">
                  <a:moveTo>
                    <a:pt x="75437" y="0"/>
                  </a:moveTo>
                  <a:lnTo>
                    <a:pt x="0" y="39369"/>
                  </a:lnTo>
                  <a:lnTo>
                    <a:pt x="76834" y="76200"/>
                  </a:lnTo>
                  <a:lnTo>
                    <a:pt x="76373" y="51054"/>
                  </a:lnTo>
                  <a:lnTo>
                    <a:pt x="63626" y="51054"/>
                  </a:lnTo>
                  <a:lnTo>
                    <a:pt x="63245" y="25654"/>
                  </a:lnTo>
                  <a:lnTo>
                    <a:pt x="75904" y="25428"/>
                  </a:lnTo>
                  <a:lnTo>
                    <a:pt x="75437" y="0"/>
                  </a:lnTo>
                  <a:close/>
                </a:path>
                <a:path extrusionOk="0" h="76200" w="506729">
                  <a:moveTo>
                    <a:pt x="75904" y="25428"/>
                  </a:moveTo>
                  <a:lnTo>
                    <a:pt x="63245" y="25654"/>
                  </a:lnTo>
                  <a:lnTo>
                    <a:pt x="63626" y="51054"/>
                  </a:lnTo>
                  <a:lnTo>
                    <a:pt x="76369" y="50827"/>
                  </a:lnTo>
                  <a:lnTo>
                    <a:pt x="75904" y="25428"/>
                  </a:lnTo>
                  <a:close/>
                </a:path>
                <a:path extrusionOk="0" h="76200" w="506729">
                  <a:moveTo>
                    <a:pt x="76369" y="50827"/>
                  </a:moveTo>
                  <a:lnTo>
                    <a:pt x="63626" y="51054"/>
                  </a:lnTo>
                  <a:lnTo>
                    <a:pt x="76373" y="51054"/>
                  </a:lnTo>
                  <a:lnTo>
                    <a:pt x="76369" y="50827"/>
                  </a:lnTo>
                  <a:close/>
                </a:path>
                <a:path extrusionOk="0" h="76200" w="506729">
                  <a:moveTo>
                    <a:pt x="505840" y="17780"/>
                  </a:moveTo>
                  <a:lnTo>
                    <a:pt x="75904" y="25428"/>
                  </a:lnTo>
                  <a:lnTo>
                    <a:pt x="76369" y="50827"/>
                  </a:lnTo>
                  <a:lnTo>
                    <a:pt x="506221" y="43180"/>
                  </a:lnTo>
                  <a:lnTo>
                    <a:pt x="505840" y="17780"/>
                  </a:lnTo>
                  <a:close/>
                </a:path>
              </a:pathLst>
            </a:custGeom>
            <a:solidFill>
              <a:srgbClr val="EB00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14"/>
          <p:cNvSpPr txBox="1"/>
          <p:nvPr/>
        </p:nvSpPr>
        <p:spPr>
          <a:xfrm>
            <a:off x="6829876" y="3064713"/>
            <a:ext cx="1869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error is the</a:t>
            </a: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difference between real and predicted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341691" y="2295567"/>
            <a:ext cx="4218600" cy="2064000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90170" marR="4140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 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measurement result that stands out from the general distribution of the 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01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following outlier test is sometimes performed using a supervised model: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795" lvl="0" marL="2273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Exclude the </a:t>
            </a:r>
            <a:r>
              <a:rPr b="1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i-th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795" lvl="0" marL="2273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the model on data without the </a:t>
            </a:r>
            <a:r>
              <a:rPr b="1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i-th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795" lvl="0" marL="227329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eriod"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quality of the adjusted model was changed a lot, then </a:t>
            </a:r>
            <a:r>
              <a:rPr b="1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-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outlier.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0170" marR="11874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outlier test separates outlier results from the results of which the residuals are large, but the value of which is suitable for the selected  model.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0170" marR="11874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0170" marR="11874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algorithms for estimating distribution’s density (like DBSCAN) or other statistical techniques can be applied for this tasks (e.g., “</a:t>
            </a:r>
            <a:r>
              <a:rPr b="1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3-sigma rule”</a:t>
            </a: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324601" y="803856"/>
            <a:ext cx="4252800" cy="1356600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txBody>
          <a:bodyPr anchorCtr="0" anchor="t" bIns="0" lIns="0" spcFirstLastPara="1" rIns="0" wrap="square" tIns="44450">
            <a:spAutoFit/>
          </a:bodyPr>
          <a:lstStyle/>
          <a:p>
            <a:pPr indent="0" lvl="0" marL="90170" marR="252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data </a:t>
            </a: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handled in different ways depending on their  number relative to the size of the entire data sample: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01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if there are few gaps, you can delete objects with gaps;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0170" marR="10985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if there are many gaps in important features, you can fill in the gaps  with the mean, median or neighboring value, the majority class (for  categorical variables);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5148561" y="1238949"/>
            <a:ext cx="4530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6376225" y="3746313"/>
            <a:ext cx="90300" cy="97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6740400" y="2701263"/>
            <a:ext cx="90300" cy="97800"/>
          </a:xfrm>
          <a:prstGeom prst="ellipse">
            <a:avLst/>
          </a:prstGeom>
          <a:solidFill>
            <a:srgbClr val="0070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5002275" y="1692163"/>
            <a:ext cx="35139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B0044"/>
                </a:solidFill>
                <a:latin typeface="Calibri"/>
                <a:ea typeface="Calibri"/>
                <a:cs typeface="Calibri"/>
                <a:sym typeface="Calibri"/>
              </a:rPr>
              <a:t>You </a:t>
            </a:r>
            <a:r>
              <a:rPr b="1" lang="en-US" sz="1100">
                <a:solidFill>
                  <a:srgbClr val="EB0044"/>
                </a:solidFill>
                <a:latin typeface="Calibri"/>
                <a:ea typeface="Calibri"/>
                <a:cs typeface="Calibri"/>
                <a:sym typeface="Calibri"/>
              </a:rPr>
              <a:t>should</a:t>
            </a:r>
            <a:r>
              <a:rPr b="1" lang="en-US" sz="1100">
                <a:solidFill>
                  <a:srgbClr val="EB0044"/>
                </a:solidFill>
                <a:latin typeface="Calibri"/>
                <a:ea typeface="Calibri"/>
                <a:cs typeface="Calibri"/>
                <a:sym typeface="Calibri"/>
              </a:rPr>
              <a:t> choose the most appropriate way of handling missing data by yourself in every particular case</a:t>
            </a:r>
            <a:endParaRPr b="1" sz="1100">
              <a:solidFill>
                <a:srgbClr val="EB00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 txBox="1"/>
          <p:nvPr>
            <p:ph type="title"/>
          </p:nvPr>
        </p:nvSpPr>
        <p:spPr>
          <a:xfrm>
            <a:off x="444796" y="255525"/>
            <a:ext cx="42696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vizualization - matters!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474370" y="946149"/>
            <a:ext cx="3326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 </a:t>
            </a: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a standard </a:t>
            </a:r>
            <a:r>
              <a:rPr b="1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visualization library;  The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matplotlib.pyplot </a:t>
            </a: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provides a high-level library  interface for plotting various types of plots.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Google Shape;1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55" y="1851672"/>
            <a:ext cx="1565783" cy="1153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3739" y="1851698"/>
            <a:ext cx="1323593" cy="1161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11729" y="3219805"/>
            <a:ext cx="1368170" cy="1325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5"/>
          <p:cNvSpPr txBox="1"/>
          <p:nvPr/>
        </p:nvSpPr>
        <p:spPr>
          <a:xfrm>
            <a:off x="4419600" y="871289"/>
            <a:ext cx="38334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Seaborn </a:t>
            </a: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library is an installable matplotlib add-on that provides  tools for more attractive graph display;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84150" marR="8597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convenient work with objects of the pandas package;  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184150" marR="8597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</a:pP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new types of graphic objects.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4234" y="1851647"/>
            <a:ext cx="1249895" cy="1222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4366" y="1871192"/>
            <a:ext cx="1153769" cy="1175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009" y="3219818"/>
            <a:ext cx="1317752" cy="1262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573" y="3291839"/>
            <a:ext cx="1224140" cy="1213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72225" y="3219780"/>
            <a:ext cx="1733677" cy="130924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5"/>
          <p:cNvSpPr txBox="1"/>
          <p:nvPr/>
        </p:nvSpPr>
        <p:spPr>
          <a:xfrm>
            <a:off x="4813808" y="4553813"/>
            <a:ext cx="10110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scatter-plot-matrix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6960234" y="4553813"/>
            <a:ext cx="5562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violin-plot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1021486" y="4542535"/>
            <a:ext cx="4920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heatmap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2881376" y="4542535"/>
            <a:ext cx="3942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pieplot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996188" y="3029457"/>
            <a:ext cx="7443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1D curve (x-y)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2712847" y="3029457"/>
            <a:ext cx="5517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4629658" y="3029457"/>
            <a:ext cx="14007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2D clouds with projections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6629781" y="3029457"/>
            <a:ext cx="12441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scatter-plot+ histogram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type="title"/>
          </p:nvPr>
        </p:nvSpPr>
        <p:spPr>
          <a:xfrm>
            <a:off x="444798" y="255525"/>
            <a:ext cx="41499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Scaling and stanardization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408862" y="877390"/>
            <a:ext cx="49155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tandardization: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transformation </a:t>
            </a:r>
            <a:r>
              <a:rPr b="1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f(x)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(where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measurable, usually continuous function) such that the transformed data becomes (approximately) normally distributed.  for example,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logarithm or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transformations of data (Box-Cox,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408862" y="1839997"/>
            <a:ext cx="4908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Scaling: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transformation </a:t>
            </a:r>
            <a:r>
              <a:rPr b="1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f(x) = cx + b, c ∈ R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that is, multiplying the feature values by a constant </a:t>
            </a:r>
            <a:r>
              <a:rPr b="1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changes the scale (for example, from nanometers to kilometers) and adding (optionally) bias </a:t>
            </a:r>
            <a:r>
              <a:rPr b="1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practice, the following transformations are most often applied: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1073329" y="3223585"/>
            <a:ext cx="1564565" cy="198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MiniMax scaling: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1073329" y="3834941"/>
            <a:ext cx="1229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z-scaling:</a:t>
            </a:r>
            <a:endParaRPr b="1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5" name="Google Shape;2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4323" y="1347596"/>
            <a:ext cx="1406144" cy="2246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0126" y="1131569"/>
            <a:ext cx="1213180" cy="255930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6"/>
          <p:cNvSpPr txBox="1"/>
          <p:nvPr/>
        </p:nvSpPr>
        <p:spPr>
          <a:xfrm>
            <a:off x="5432933" y="968616"/>
            <a:ext cx="3240300" cy="20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4527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Z-scaling:</a:t>
            </a:r>
            <a:endParaRPr b="1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6732269" y="2389631"/>
            <a:ext cx="288290" cy="76200"/>
          </a:xfrm>
          <a:custGeom>
            <a:rect b="b" l="l" r="r" t="t"/>
            <a:pathLst>
              <a:path extrusionOk="0" h="76200" w="288290">
                <a:moveTo>
                  <a:pt x="211835" y="0"/>
                </a:moveTo>
                <a:lnTo>
                  <a:pt x="211835" y="76200"/>
                </a:lnTo>
                <a:lnTo>
                  <a:pt x="275335" y="44450"/>
                </a:lnTo>
                <a:lnTo>
                  <a:pt x="224535" y="44450"/>
                </a:lnTo>
                <a:lnTo>
                  <a:pt x="224535" y="31750"/>
                </a:lnTo>
                <a:lnTo>
                  <a:pt x="275335" y="31750"/>
                </a:lnTo>
                <a:lnTo>
                  <a:pt x="211835" y="0"/>
                </a:lnTo>
                <a:close/>
              </a:path>
              <a:path extrusionOk="0" h="76200" w="288290">
                <a:moveTo>
                  <a:pt x="21183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11835" y="44450"/>
                </a:lnTo>
                <a:lnTo>
                  <a:pt x="211835" y="31750"/>
                </a:lnTo>
                <a:close/>
              </a:path>
              <a:path extrusionOk="0" h="76200" w="288290">
                <a:moveTo>
                  <a:pt x="275335" y="31750"/>
                </a:moveTo>
                <a:lnTo>
                  <a:pt x="224535" y="31750"/>
                </a:lnTo>
                <a:lnTo>
                  <a:pt x="224535" y="44450"/>
                </a:lnTo>
                <a:lnTo>
                  <a:pt x="275335" y="44450"/>
                </a:lnTo>
                <a:lnTo>
                  <a:pt x="288035" y="38100"/>
                </a:lnTo>
                <a:lnTo>
                  <a:pt x="275335" y="31750"/>
                </a:lnTo>
                <a:close/>
              </a:path>
            </a:pathLst>
          </a:custGeom>
          <a:solidFill>
            <a:srgbClr val="0063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w to Scale data into the 0-1 range using Min-Max Normalization. -  Knowledge Transfer" id="209" name="Google Shape;20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33171" y="3024195"/>
            <a:ext cx="2061408" cy="637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ature Scaling : Why, What , Where , How? | by Raghavan |  DataDrivenInvestor" id="210" name="Google Shape;21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55136" y="3703921"/>
            <a:ext cx="1301861" cy="89947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6"/>
          <p:cNvSpPr/>
          <p:nvPr/>
        </p:nvSpPr>
        <p:spPr>
          <a:xfrm>
            <a:off x="4648200" y="4212684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sklearn.preprocessing.</a:t>
            </a:r>
            <a:r>
              <a:rPr b="1" i="0" lang="en-US" sz="1400" u="none" cap="none" strike="noStrike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MinMaxScaler</a:t>
            </a:r>
            <a:r>
              <a:rPr b="0" i="0" lang="en-US" sz="1400" u="none" cap="none" strike="noStrike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sklearn.preprocessing.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StandardScaler</a:t>
            </a: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 txBox="1"/>
          <p:nvPr>
            <p:ph type="title"/>
          </p:nvPr>
        </p:nvSpPr>
        <p:spPr>
          <a:xfrm>
            <a:off x="424598" y="134350"/>
            <a:ext cx="45735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Scaling </a:t>
            </a:r>
            <a:endParaRPr/>
          </a:p>
        </p:txBody>
      </p:sp>
      <p:pic>
        <p:nvPicPr>
          <p:cNvPr descr="https://cdn-images-1.medium.com/max/729/0*mvQMxnXztGZU_9zP" id="217" name="Google Shape;2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725" y="3321239"/>
            <a:ext cx="4190999" cy="16384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rything you need to know about Min-Max normalization: A Python tutorial  | by Serafeim Loukas | Towards Data Science" id="218" name="Google Shape;2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075" y="724400"/>
            <a:ext cx="5106301" cy="232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7"/>
          <p:cNvSpPr txBox="1"/>
          <p:nvPr/>
        </p:nvSpPr>
        <p:spPr>
          <a:xfrm>
            <a:off x="94522" y="731225"/>
            <a:ext cx="15645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MiniMax scaling: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153786" y="3200080"/>
            <a:ext cx="1229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z-scaling: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6058650" y="684100"/>
            <a:ext cx="29619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When Do We Need Feature z-scaling?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AutoNum type="arabicPeriod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Using distance-based algorithms: Models like K-Nearest Neighbors (KNN), K-Means Clustering, and Support Vector Machines (SVM)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AutoNum type="arabicPeriod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Training with gradient descent (numerical stability)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AutoNum type="arabicPeriod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Applying regularization: (L1 and L2)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AutoNum type="arabicPeriod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Data has outliers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When Min-Max is more appropriate: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AutoNum type="arabicPeriod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You need exact bounded ranges (e.g., in image/video processing)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AutoNum type="arabicPeriod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Keep the data sparse (0’s transform to 0’s for a non-negative data)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When it’s better to make features normally distributed?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AutoNum type="arabicPeriod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Algorithms That Prefer or Require Normality (LDA, Linear Regression/Logistic Regression)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AutoNum type="arabicPeriod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When the distribution has huge tails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>
            <p:ph type="title"/>
          </p:nvPr>
        </p:nvSpPr>
        <p:spPr>
          <a:xfrm>
            <a:off x="444796" y="255525"/>
            <a:ext cx="34296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Feature types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395541" y="1052080"/>
            <a:ext cx="3816985" cy="382797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0" lvl="0" marL="901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Among the tabular data, 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numerical, categorical and logical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01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are distinguished;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244627" y="2498725"/>
            <a:ext cx="3883500" cy="17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16383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Char char="▪"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add categorical features (for example, “color”,  “relationship”, “weather”) to the model, it is necessary to be  able to correctly process them algorithmically.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019" lvl="0" marL="299085" marR="0" rtl="0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Char char="▪"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often impossible (incorrectly) to introduce an ordering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9908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 into such variables (the “LabelEncoding” method);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019" lvl="0" marL="299085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Char char="▪"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"One-Hot-Encoding" </a:t>
            </a: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is applied, which assigns a  </a:t>
            </a: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vector</a:t>
            </a: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each value of a categorical feature from 1 to  the position corresponding to the value of this feature and 0 to  all others.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170180" rtl="0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Char char="▪"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 wide variety of functions for handling categorical  variables in machine learning frameworks.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9" name="Google Shape;229;p18"/>
          <p:cNvGraphicFramePr/>
          <p:nvPr/>
        </p:nvGraphicFramePr>
        <p:xfrm>
          <a:off x="4421632" y="2989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{0F6B17EB-A7E8-4332-B479-417A2EC575B7}</a:tableStyleId>
              </a:tblPr>
              <a:tblGrid>
                <a:gridCol w="1118875"/>
              </a:tblGrid>
              <a:tr h="24385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B0044"/>
                    </a:solidFill>
                  </a:tcPr>
                </a:tc>
              </a:tr>
              <a:tr h="25020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red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0" marR="0" marL="0">
                    <a:solidFill>
                      <a:srgbClr val="FFFFFF"/>
                    </a:solidFill>
                  </a:tcPr>
                </a:tc>
              </a:tr>
              <a:tr h="237500"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blue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AE7E9"/>
                    </a:solidFill>
                  </a:tcPr>
                </a:tc>
              </a:tr>
              <a:tr h="25015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green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0" marR="0" marL="0">
                    <a:solidFill>
                      <a:srgbClr val="FFFFFF"/>
                    </a:solidFill>
                  </a:tcPr>
                </a:tc>
              </a:tr>
              <a:tr h="237500"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blue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AE7E9"/>
                    </a:solidFill>
                  </a:tcPr>
                </a:tc>
              </a:tr>
              <a:tr h="25020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green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6350" marB="0" marR="0" marL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0" name="Google Shape;230;p18"/>
          <p:cNvGraphicFramePr/>
          <p:nvPr/>
        </p:nvGraphicFramePr>
        <p:xfrm>
          <a:off x="6077839" y="2989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{0F6B17EB-A7E8-4332-B479-417A2EC575B7}</a:tableStyleId>
              </a:tblPr>
              <a:tblGrid>
                <a:gridCol w="791850"/>
                <a:gridCol w="791850"/>
                <a:gridCol w="791850"/>
              </a:tblGrid>
              <a:tr h="24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B00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green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B00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blue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B0044"/>
                    </a:solidFill>
                  </a:tcPr>
                </a:tc>
              </a:tr>
              <a:tr h="250200"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0" marR="0" marL="0">
                    <a:solidFill>
                      <a:srgbClr val="FFFFFF"/>
                    </a:solidFill>
                  </a:tcPr>
                </a:tc>
              </a:tr>
              <a:tr h="237500"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AE7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AE7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AE7E9"/>
                    </a:solidFill>
                  </a:tcPr>
                </a:tc>
              </a:tr>
              <a:tr h="250175"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0" marR="0" marL="0">
                    <a:solidFill>
                      <a:srgbClr val="FFFFFF"/>
                    </a:solidFill>
                  </a:tcPr>
                </a:tc>
              </a:tr>
              <a:tr h="237500"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AE7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AE7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AE7E9"/>
                    </a:solidFill>
                  </a:tcPr>
                </a:tc>
              </a:tr>
              <a:tr h="250200"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12FAC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0" marR="0" marL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31" name="Google Shape;2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5972" y="915542"/>
            <a:ext cx="4254628" cy="181178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8"/>
          <p:cNvSpPr/>
          <p:nvPr/>
        </p:nvSpPr>
        <p:spPr>
          <a:xfrm>
            <a:off x="5652134" y="3750309"/>
            <a:ext cx="288290" cy="76200"/>
          </a:xfrm>
          <a:custGeom>
            <a:rect b="b" l="l" r="r" t="t"/>
            <a:pathLst>
              <a:path extrusionOk="0" h="76200" w="288289">
                <a:moveTo>
                  <a:pt x="211836" y="0"/>
                </a:moveTo>
                <a:lnTo>
                  <a:pt x="211836" y="76200"/>
                </a:lnTo>
                <a:lnTo>
                  <a:pt x="275336" y="44450"/>
                </a:lnTo>
                <a:lnTo>
                  <a:pt x="224536" y="44450"/>
                </a:lnTo>
                <a:lnTo>
                  <a:pt x="224536" y="31750"/>
                </a:lnTo>
                <a:lnTo>
                  <a:pt x="275336" y="31750"/>
                </a:lnTo>
                <a:lnTo>
                  <a:pt x="211836" y="0"/>
                </a:lnTo>
                <a:close/>
              </a:path>
              <a:path extrusionOk="0" h="76200" w="288289">
                <a:moveTo>
                  <a:pt x="21183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11836" y="44450"/>
                </a:lnTo>
                <a:lnTo>
                  <a:pt x="211836" y="31750"/>
                </a:lnTo>
                <a:close/>
              </a:path>
              <a:path extrusionOk="0" h="76200" w="288289">
                <a:moveTo>
                  <a:pt x="275336" y="31750"/>
                </a:moveTo>
                <a:lnTo>
                  <a:pt x="224536" y="31750"/>
                </a:lnTo>
                <a:lnTo>
                  <a:pt x="224536" y="44450"/>
                </a:lnTo>
                <a:lnTo>
                  <a:pt x="275336" y="44450"/>
                </a:lnTo>
                <a:lnTo>
                  <a:pt x="288036" y="38100"/>
                </a:lnTo>
                <a:lnTo>
                  <a:pt x="275336" y="31750"/>
                </a:lnTo>
                <a:close/>
              </a:path>
            </a:pathLst>
          </a:custGeom>
          <a:solidFill>
            <a:srgbClr val="0063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5540502" y="4523812"/>
            <a:ext cx="1626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one-hot-encoding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5353050" y="651780"/>
            <a:ext cx="18141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Various types of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304799" y="1688082"/>
            <a:ext cx="3883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0170" marR="24257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categorical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 where no ordinal relationship exists,  integer encoding (so called, “Label Encoding”) can lead to unexpected results!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>
            <p:ph type="title"/>
          </p:nvPr>
        </p:nvSpPr>
        <p:spPr>
          <a:xfrm>
            <a:off x="444799" y="255525"/>
            <a:ext cx="54327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Factor and discriminative analysis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304800" y="802147"/>
            <a:ext cx="3952200" cy="715800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 analysis: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49" lvl="0" marL="26225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reduction in the number of features (data reduction);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628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determination of relationships between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49" lvl="0" marL="26225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 of features.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4445550" y="811850"/>
            <a:ext cx="4469700" cy="885000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927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Discriminative Analysis: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635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determining the significance of features for predicting the target variable;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49" lvl="0" marL="264160" marR="229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reduction of the number of features for optimal tuning of the predictive  model.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229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4700" y="2080025"/>
            <a:ext cx="1681837" cy="2747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537" y="2211755"/>
            <a:ext cx="4752467" cy="783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200" y="3075750"/>
            <a:ext cx="2032100" cy="187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19"/>
          <p:cNvGrpSpPr/>
          <p:nvPr/>
        </p:nvGrpSpPr>
        <p:grpSpPr>
          <a:xfrm>
            <a:off x="7080685" y="2656725"/>
            <a:ext cx="2032039" cy="1406871"/>
            <a:chOff x="7020306" y="2715806"/>
            <a:chExt cx="1534541" cy="1274571"/>
          </a:xfrm>
        </p:grpSpPr>
        <p:pic>
          <p:nvPicPr>
            <p:cNvPr id="247" name="Google Shape;247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64324" y="2715806"/>
              <a:ext cx="1390523" cy="12745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20306" y="3397758"/>
              <a:ext cx="216026" cy="76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19"/>
          <p:cNvSpPr txBox="1"/>
          <p:nvPr/>
        </p:nvSpPr>
        <p:spPr>
          <a:xfrm>
            <a:off x="6803780" y="3262460"/>
            <a:ext cx="177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6FB9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2017845" y="4499918"/>
            <a:ext cx="34170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12FAC"/>
                </a:solidFill>
                <a:latin typeface="Calibri"/>
                <a:ea typeface="Calibri"/>
                <a:cs typeface="Calibri"/>
                <a:sym typeface="Calibri"/>
              </a:rPr>
              <a:t>"Cabin class": the higher the class, the more likely it is to be saved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971473" y="2672886"/>
            <a:ext cx="3168650" cy="733425"/>
          </a:xfrm>
          <a:custGeom>
            <a:rect b="b" l="l" r="r" t="t"/>
            <a:pathLst>
              <a:path extrusionOk="0" h="733425" w="3168650">
                <a:moveTo>
                  <a:pt x="1802587" y="721233"/>
                </a:moveTo>
                <a:lnTo>
                  <a:pt x="73101" y="29489"/>
                </a:lnTo>
                <a:lnTo>
                  <a:pt x="74993" y="24765"/>
                </a:lnTo>
                <a:lnTo>
                  <a:pt x="84899" y="0"/>
                </a:lnTo>
                <a:lnTo>
                  <a:pt x="0" y="7112"/>
                </a:lnTo>
                <a:lnTo>
                  <a:pt x="56603" y="70739"/>
                </a:lnTo>
                <a:lnTo>
                  <a:pt x="68376" y="41300"/>
                </a:lnTo>
                <a:lnTo>
                  <a:pt x="1797888" y="733056"/>
                </a:lnTo>
                <a:lnTo>
                  <a:pt x="1802587" y="721233"/>
                </a:lnTo>
                <a:close/>
              </a:path>
              <a:path extrusionOk="0" h="733425" w="3168650">
                <a:moveTo>
                  <a:pt x="2164791" y="722769"/>
                </a:moveTo>
                <a:lnTo>
                  <a:pt x="1642529" y="200507"/>
                </a:lnTo>
                <a:lnTo>
                  <a:pt x="1651546" y="191516"/>
                </a:lnTo>
                <a:lnTo>
                  <a:pt x="1665046" y="178054"/>
                </a:lnTo>
                <a:lnTo>
                  <a:pt x="1584147" y="151130"/>
                </a:lnTo>
                <a:lnTo>
                  <a:pt x="1611071" y="231902"/>
                </a:lnTo>
                <a:lnTo>
                  <a:pt x="1633512" y="209511"/>
                </a:lnTo>
                <a:lnTo>
                  <a:pt x="2155774" y="731647"/>
                </a:lnTo>
                <a:lnTo>
                  <a:pt x="2164791" y="722769"/>
                </a:lnTo>
                <a:close/>
              </a:path>
              <a:path extrusionOk="0" h="733425" w="3168650">
                <a:moveTo>
                  <a:pt x="3168345" y="151130"/>
                </a:moveTo>
                <a:lnTo>
                  <a:pt x="3087573" y="178054"/>
                </a:lnTo>
                <a:lnTo>
                  <a:pt x="3109988" y="200482"/>
                </a:lnTo>
                <a:lnTo>
                  <a:pt x="2587828" y="722769"/>
                </a:lnTo>
                <a:lnTo>
                  <a:pt x="2596718" y="731647"/>
                </a:lnTo>
                <a:lnTo>
                  <a:pt x="3118993" y="209486"/>
                </a:lnTo>
                <a:lnTo>
                  <a:pt x="3141421" y="231902"/>
                </a:lnTo>
                <a:lnTo>
                  <a:pt x="3154883" y="191516"/>
                </a:lnTo>
                <a:lnTo>
                  <a:pt x="3168345" y="151130"/>
                </a:lnTo>
                <a:close/>
              </a:path>
            </a:pathLst>
          </a:custGeom>
          <a:solidFill>
            <a:srgbClr val="0063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5563950" y="1942475"/>
            <a:ext cx="3493500" cy="3065700"/>
          </a:xfrm>
          <a:prstGeom prst="roundRect">
            <a:avLst>
              <a:gd fmla="val 7506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2687827" y="3461765"/>
            <a:ext cx="2645410" cy="33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12FAC"/>
                </a:solidFill>
                <a:latin typeface="Calibri"/>
                <a:ea typeface="Calibri"/>
                <a:cs typeface="Calibri"/>
                <a:sym typeface="Calibri"/>
              </a:rPr>
              <a:t>can be removed, since the target variable does not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12FAC"/>
                </a:solidFill>
                <a:latin typeface="Calibri"/>
                <a:ea typeface="Calibri"/>
                <a:cs typeface="Calibri"/>
                <a:sym typeface="Calibri"/>
              </a:rPr>
              <a:t>depend on these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6461182" y="2211741"/>
            <a:ext cx="14370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12FAC"/>
                </a:solidFill>
                <a:latin typeface="Calibri"/>
                <a:ea typeface="Calibri"/>
                <a:cs typeface="Calibri"/>
                <a:sym typeface="Calibri"/>
              </a:rPr>
              <a:t>Number of brothers/sisters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6286257" y="4786848"/>
            <a:ext cx="13050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12FAC"/>
                </a:solidFill>
                <a:latin typeface="Calibri"/>
                <a:ea typeface="Calibri"/>
                <a:cs typeface="Calibri"/>
                <a:sym typeface="Calibri"/>
              </a:rPr>
              <a:t>Number of parents/child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7411213" y="3989723"/>
            <a:ext cx="1370965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12FAC"/>
                </a:solidFill>
                <a:latin typeface="Calibri"/>
                <a:ea typeface="Calibri"/>
                <a:cs typeface="Calibri"/>
                <a:sym typeface="Calibri"/>
              </a:rPr>
              <a:t>Synthetic feature “family”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9"/>
          <p:cNvCxnSpPr/>
          <p:nvPr/>
        </p:nvCxnSpPr>
        <p:spPr>
          <a:xfrm rot="10800000">
            <a:off x="1795919" y="4239389"/>
            <a:ext cx="399784" cy="21659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" name="Google Shape;258;p19"/>
          <p:cNvSpPr/>
          <p:nvPr/>
        </p:nvSpPr>
        <p:spPr>
          <a:xfrm>
            <a:off x="121200" y="1942475"/>
            <a:ext cx="5353500" cy="3065700"/>
          </a:xfrm>
          <a:prstGeom prst="roundRect">
            <a:avLst>
              <a:gd fmla="val 7506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 txBox="1"/>
          <p:nvPr>
            <p:ph type="title"/>
          </p:nvPr>
        </p:nvSpPr>
        <p:spPr>
          <a:xfrm>
            <a:off x="444798" y="255525"/>
            <a:ext cx="37623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Correlation analysis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444804" y="805673"/>
            <a:ext cx="3941445" cy="382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statistical relationship between two or more random variables.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5524062" y="852775"/>
            <a:ext cx="31653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34163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Titanic </a:t>
            </a: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survivors</a:t>
            </a: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Feature correlation heatmap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456894" y="1228566"/>
            <a:ext cx="4301490" cy="382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242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Pearson's correlation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coefficient characterizes the existence of a linear  relationship between two quantities: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3644877" y="1945304"/>
            <a:ext cx="1103522" cy="198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std’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of X and 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501803" y="3633596"/>
            <a:ext cx="4301490" cy="752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identify not only a linear relationship between the variables, instead of the Pearson's  correlation coefficient, the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Spearman's rank correlation coefficient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used, which makes it  possible to track more complex relationships between the variables.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3396752" y="1683700"/>
            <a:ext cx="2439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" marR="242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covariance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2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hat Is The Correlation Formula?" id="270" name="Google Shape;2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304" y="1596238"/>
            <a:ext cx="2715249" cy="19698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p20"/>
          <p:cNvCxnSpPr/>
          <p:nvPr/>
        </p:nvCxnSpPr>
        <p:spPr>
          <a:xfrm rot="10800000">
            <a:off x="2415526" y="1836807"/>
            <a:ext cx="851203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" name="Google Shape;272;p20"/>
          <p:cNvCxnSpPr/>
          <p:nvPr/>
        </p:nvCxnSpPr>
        <p:spPr>
          <a:xfrm rot="10800000">
            <a:off x="2458873" y="2047126"/>
            <a:ext cx="1046327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73" name="Google Shape;2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7825" y="1112025"/>
            <a:ext cx="4037763" cy="237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tinguish between linear and nonlinear relations | College Algebra | |  Course Hero" id="274" name="Google Shape;27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5492" y="3489325"/>
            <a:ext cx="3429000" cy="152638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0"/>
          <p:cNvSpPr txBox="1"/>
          <p:nvPr/>
        </p:nvSpPr>
        <p:spPr>
          <a:xfrm>
            <a:off x="1776300" y="4385725"/>
            <a:ext cx="30765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B0044"/>
                </a:solidFill>
                <a:latin typeface="Calibri"/>
                <a:ea typeface="Calibri"/>
                <a:cs typeface="Calibri"/>
                <a:sym typeface="Calibri"/>
              </a:rPr>
              <a:t>Highly correlated features may led to instability and not appropriate results especially for linear models</a:t>
            </a:r>
            <a:endParaRPr sz="1200">
              <a:solidFill>
                <a:srgbClr val="EB00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 txBox="1"/>
          <p:nvPr>
            <p:ph type="title"/>
          </p:nvPr>
        </p:nvSpPr>
        <p:spPr>
          <a:xfrm>
            <a:off x="444798" y="255525"/>
            <a:ext cx="40119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Dimension reduction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473151" y="939240"/>
            <a:ext cx="3704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 reduction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data transformation that consists in  reducing the number of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obtaining the most  important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73151" y="1671320"/>
            <a:ext cx="2178685" cy="940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977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reduction in computational costs;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977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fight against overfitting;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977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compression;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977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visualization.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4650740" y="939240"/>
            <a:ext cx="34119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Principal component analysis (PCA)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maps data linearly  to a smaller dimension in such a way that the 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variance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data in the smaller representation is  maximized.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41" y="3003778"/>
            <a:ext cx="4092448" cy="1488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4098" y="2715780"/>
            <a:ext cx="2943987" cy="196265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1"/>
          <p:cNvSpPr txBox="1"/>
          <p:nvPr/>
        </p:nvSpPr>
        <p:spPr>
          <a:xfrm>
            <a:off x="402437" y="2813430"/>
            <a:ext cx="74549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55554"/>
                </a:solidFill>
                <a:latin typeface="Arial"/>
                <a:ea typeface="Arial"/>
                <a:cs typeface="Arial"/>
                <a:sym typeface="Arial"/>
              </a:rPr>
              <a:t>Iris Dataset: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4716017" y="3613784"/>
            <a:ext cx="432434" cy="76200"/>
          </a:xfrm>
          <a:custGeom>
            <a:rect b="b" l="l" r="r" t="t"/>
            <a:pathLst>
              <a:path extrusionOk="0" h="76200" w="432435">
                <a:moveTo>
                  <a:pt x="355854" y="0"/>
                </a:moveTo>
                <a:lnTo>
                  <a:pt x="355854" y="76200"/>
                </a:lnTo>
                <a:lnTo>
                  <a:pt x="419354" y="44450"/>
                </a:lnTo>
                <a:lnTo>
                  <a:pt x="368554" y="44450"/>
                </a:lnTo>
                <a:lnTo>
                  <a:pt x="368554" y="31750"/>
                </a:lnTo>
                <a:lnTo>
                  <a:pt x="419354" y="31750"/>
                </a:lnTo>
                <a:lnTo>
                  <a:pt x="355854" y="0"/>
                </a:lnTo>
                <a:close/>
              </a:path>
              <a:path extrusionOk="0" h="76200" w="432435">
                <a:moveTo>
                  <a:pt x="35585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5854" y="44450"/>
                </a:lnTo>
                <a:lnTo>
                  <a:pt x="355854" y="31750"/>
                </a:lnTo>
                <a:close/>
              </a:path>
              <a:path extrusionOk="0" h="76200" w="432435">
                <a:moveTo>
                  <a:pt x="419354" y="31750"/>
                </a:moveTo>
                <a:lnTo>
                  <a:pt x="368554" y="31750"/>
                </a:lnTo>
                <a:lnTo>
                  <a:pt x="368554" y="44450"/>
                </a:lnTo>
                <a:lnTo>
                  <a:pt x="419354" y="44450"/>
                </a:lnTo>
                <a:lnTo>
                  <a:pt x="432054" y="38100"/>
                </a:lnTo>
                <a:lnTo>
                  <a:pt x="419354" y="31750"/>
                </a:lnTo>
                <a:close/>
              </a:path>
            </a:pathLst>
          </a:custGeom>
          <a:solidFill>
            <a:srgbClr val="0063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5660897" y="2380945"/>
            <a:ext cx="1708785" cy="179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55554"/>
                </a:solidFill>
                <a:latin typeface="Arial"/>
                <a:ea typeface="Arial"/>
                <a:cs typeface="Arial"/>
                <a:sym typeface="Arial"/>
              </a:rPr>
              <a:t>2D representation after PCA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"/>
          <p:cNvSpPr txBox="1"/>
          <p:nvPr>
            <p:ph type="title"/>
          </p:nvPr>
        </p:nvSpPr>
        <p:spPr>
          <a:xfrm>
            <a:off x="444799" y="255525"/>
            <a:ext cx="67566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Nonlinear dimension reduction method t-SNE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369010" y="760688"/>
            <a:ext cx="4811395" cy="70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t-SNE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“stochastic embedding of neighbors with t-distribution”.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8415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set of N high-dimensional objects, t-SNE first computes the probabilities </a:t>
            </a:r>
            <a:r>
              <a:rPr b="1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which are proportional to the similarity of the objects </a:t>
            </a:r>
            <a:r>
              <a:rPr b="1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x</a:t>
            </a:r>
            <a:r>
              <a:rPr b="1" baseline="-2500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1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follows: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447751" y="2458288"/>
            <a:ext cx="4811395" cy="521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170815" lvl="0" marL="208279" marR="4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t-SNE algorithm seeks to obtain a mapping of </a:t>
            </a:r>
            <a:r>
              <a:rPr b="1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into a </a:t>
            </a:r>
            <a:r>
              <a:rPr b="1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-dimensional space  that reflects the similarities</a:t>
            </a:r>
            <a:r>
              <a:rPr b="1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b="1" baseline="-2500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1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much as possible. To do this, the algorithm  measures the similarity q between two points </a:t>
            </a:r>
            <a:r>
              <a:rPr b="1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baseline="-25000" i="1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1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 y</a:t>
            </a:r>
            <a:r>
              <a:rPr b="1" baseline="-25000" i="1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444800" y="3669550"/>
            <a:ext cx="51903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70815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locations of the points </a:t>
            </a:r>
            <a:r>
              <a:rPr b="1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baseline="-25000" i="1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low-dimensional space are determined by minimizing the 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Kullback - Leibler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of the distribution 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distribution 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0815" lvl="0" marL="182880" marR="647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perplexity parameter: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points to keep the distance to in low- dimensional space.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p22"/>
          <p:cNvGrpSpPr/>
          <p:nvPr/>
        </p:nvGrpSpPr>
        <p:grpSpPr>
          <a:xfrm>
            <a:off x="5652135" y="1419605"/>
            <a:ext cx="2249551" cy="1560180"/>
            <a:chOff x="5652135" y="1419605"/>
            <a:chExt cx="2249551" cy="1560180"/>
          </a:xfrm>
        </p:grpSpPr>
        <p:pic>
          <p:nvPicPr>
            <p:cNvPr id="298" name="Google Shape;29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52135" y="1419605"/>
              <a:ext cx="2249551" cy="13054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" name="Google Shape;299;p22"/>
            <p:cNvSpPr/>
            <p:nvPr/>
          </p:nvSpPr>
          <p:spPr>
            <a:xfrm>
              <a:off x="6738800" y="2725053"/>
              <a:ext cx="82487" cy="254731"/>
            </a:xfrm>
            <a:custGeom>
              <a:rect b="b" l="l" r="r" t="t"/>
              <a:pathLst>
                <a:path extrusionOk="0" h="360044" w="76200">
                  <a:moveTo>
                    <a:pt x="31750" y="283844"/>
                  </a:moveTo>
                  <a:lnTo>
                    <a:pt x="0" y="283844"/>
                  </a:lnTo>
                  <a:lnTo>
                    <a:pt x="38100" y="360044"/>
                  </a:lnTo>
                  <a:lnTo>
                    <a:pt x="69850" y="296544"/>
                  </a:lnTo>
                  <a:lnTo>
                    <a:pt x="31750" y="296544"/>
                  </a:lnTo>
                  <a:lnTo>
                    <a:pt x="31750" y="283844"/>
                  </a:lnTo>
                  <a:close/>
                </a:path>
                <a:path extrusionOk="0" h="360044" w="76200">
                  <a:moveTo>
                    <a:pt x="44450" y="0"/>
                  </a:moveTo>
                  <a:lnTo>
                    <a:pt x="31750" y="0"/>
                  </a:lnTo>
                  <a:lnTo>
                    <a:pt x="31750" y="296544"/>
                  </a:lnTo>
                  <a:lnTo>
                    <a:pt x="44450" y="296544"/>
                  </a:lnTo>
                  <a:lnTo>
                    <a:pt x="44450" y="0"/>
                  </a:lnTo>
                  <a:close/>
                </a:path>
                <a:path extrusionOk="0" h="360044" w="76200">
                  <a:moveTo>
                    <a:pt x="76200" y="283844"/>
                  </a:moveTo>
                  <a:lnTo>
                    <a:pt x="44450" y="283844"/>
                  </a:lnTo>
                  <a:lnTo>
                    <a:pt x="44450" y="296544"/>
                  </a:lnTo>
                  <a:lnTo>
                    <a:pt x="69850" y="296544"/>
                  </a:lnTo>
                  <a:lnTo>
                    <a:pt x="76200" y="283844"/>
                  </a:lnTo>
                  <a:close/>
                </a:path>
              </a:pathLst>
            </a:custGeom>
            <a:solidFill>
              <a:srgbClr val="0063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" name="Google Shape;300;p22"/>
          <p:cNvSpPr txBox="1"/>
          <p:nvPr/>
        </p:nvSpPr>
        <p:spPr>
          <a:xfrm>
            <a:off x="5652124" y="865375"/>
            <a:ext cx="31869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example of </a:t>
            </a: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visualization</a:t>
            </a: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handwritten digits MNIST using the t-SNE method: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2209800" y="1638679"/>
            <a:ext cx="3635756" cy="7395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569969" y="1796380"/>
            <a:ext cx="2921897" cy="58654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-1666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689728" y="2944560"/>
            <a:ext cx="4454870" cy="77436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52125" y="2939100"/>
            <a:ext cx="2378150" cy="21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 txBox="1"/>
          <p:nvPr>
            <p:ph type="title"/>
          </p:nvPr>
        </p:nvSpPr>
        <p:spPr>
          <a:xfrm>
            <a:off x="444804" y="255524"/>
            <a:ext cx="82545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310" name="Google Shape;310;p23"/>
          <p:cNvSpPr txBox="1"/>
          <p:nvPr>
            <p:ph idx="1" type="body"/>
          </p:nvPr>
        </p:nvSpPr>
        <p:spPr>
          <a:xfrm>
            <a:off x="693275" y="932490"/>
            <a:ext cx="3977700" cy="30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Data preprocessing: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cleaning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formatting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scaling/normalizing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filling the gaps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categorical features processing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Factor and discriminative analysis: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dimension reduction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feature engineering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correlation analysis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